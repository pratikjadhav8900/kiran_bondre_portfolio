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4"/>
  </p:notesMasterIdLst>
  <p:sldIdLst>
    <p:sldId id="256" r:id="rId2"/>
    <p:sldId id="267" r:id="rId3"/>
    <p:sldId id="280" r:id="rId4"/>
    <p:sldId id="281" r:id="rId5"/>
    <p:sldId id="282" r:id="rId6"/>
    <p:sldId id="269" r:id="rId7"/>
    <p:sldId id="301" r:id="rId8"/>
    <p:sldId id="302" r:id="rId9"/>
    <p:sldId id="283" r:id="rId10"/>
    <p:sldId id="284" r:id="rId11"/>
    <p:sldId id="285" r:id="rId12"/>
    <p:sldId id="286" r:id="rId13"/>
    <p:sldId id="274" r:id="rId14"/>
    <p:sldId id="288" r:id="rId15"/>
    <p:sldId id="298" r:id="rId16"/>
    <p:sldId id="296" r:id="rId17"/>
    <p:sldId id="289" r:id="rId18"/>
    <p:sldId id="290" r:id="rId19"/>
    <p:sldId id="291" r:id="rId20"/>
    <p:sldId id="292" r:id="rId21"/>
    <p:sldId id="293" r:id="rId22"/>
    <p:sldId id="277" r:id="rId23"/>
  </p:sldIdLst>
  <p:sldSz cx="10972800" cy="7315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34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79" autoAdjust="0"/>
  </p:normalViewPr>
  <p:slideViewPr>
    <p:cSldViewPr>
      <p:cViewPr varScale="1">
        <p:scale>
          <a:sx n="73" d="100"/>
          <a:sy n="73" d="100"/>
        </p:scale>
        <p:origin x="1349" y="62"/>
      </p:cViewPr>
      <p:guideLst>
        <p:guide orient="horz" pos="2304"/>
        <p:guide pos="3456"/>
      </p:guideLst>
    </p:cSldViewPr>
  </p:slideViewPr>
  <p:outlineViewPr>
    <p:cViewPr>
      <p:scale>
        <a:sx n="33" d="100"/>
        <a:sy n="33" d="100"/>
      </p:scale>
      <p:origin x="0" y="-3413"/>
    </p:cViewPr>
  </p:outlineViewPr>
  <p:notesTextViewPr>
    <p:cViewPr>
      <p:scale>
        <a:sx n="100" d="100"/>
        <a:sy n="100" d="100"/>
      </p:scale>
      <p:origin x="0" y="0"/>
    </p:cViewPr>
  </p:notesTextViewPr>
  <p:sorterViewPr>
    <p:cViewPr>
      <p:scale>
        <a:sx n="150" d="100"/>
        <a:sy n="150" d="100"/>
      </p:scale>
      <p:origin x="0" y="-30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571402-181B-4778-88A2-CE98ADA254E1}" type="datetimeFigureOut">
              <a:rPr lang="en-US" smtClean="0"/>
              <a:pPr/>
              <a:t>11/20/2023</a:t>
            </a:fld>
            <a:endParaRPr lang="en-US" dirty="0"/>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927F71-13B9-4F8B-A7FA-06F36091B277}" type="slidenum">
              <a:rPr lang="en-US" smtClean="0"/>
              <a:pPr/>
              <a:t>‹#›</a:t>
            </a:fld>
            <a:endParaRPr lang="en-US" dirty="0"/>
          </a:p>
        </p:txBody>
      </p:sp>
    </p:spTree>
    <p:extLst>
      <p:ext uri="{BB962C8B-B14F-4D97-AF65-F5344CB8AC3E}">
        <p14:creationId xmlns:p14="http://schemas.microsoft.com/office/powerpoint/2010/main" val="214642905"/>
      </p:ext>
    </p:extLst>
  </p:cSld>
  <p:clrMap bg1="lt1" tx1="dk1" bg2="lt2" tx2="dk2" accent1="accent1" accent2="accent2" accent3="accent3" accent4="accent4" accent5="accent5" accent6="accent6" hlink="hlink" folHlink="folHlink"/>
  <p:notesStyle>
    <a:lvl1pPr marL="0" algn="l" defTabSz="1044924" rtl="0" eaLnBrk="1" latinLnBrk="0" hangingPunct="1">
      <a:defRPr sz="1400" kern="1200">
        <a:solidFill>
          <a:schemeClr val="tx1"/>
        </a:solidFill>
        <a:latin typeface="+mn-lt"/>
        <a:ea typeface="+mn-ea"/>
        <a:cs typeface="+mn-cs"/>
      </a:defRPr>
    </a:lvl1pPr>
    <a:lvl2pPr marL="522462" algn="l" defTabSz="1044924" rtl="0" eaLnBrk="1" latinLnBrk="0" hangingPunct="1">
      <a:defRPr sz="1400" kern="1200">
        <a:solidFill>
          <a:schemeClr val="tx1"/>
        </a:solidFill>
        <a:latin typeface="+mn-lt"/>
        <a:ea typeface="+mn-ea"/>
        <a:cs typeface="+mn-cs"/>
      </a:defRPr>
    </a:lvl2pPr>
    <a:lvl3pPr marL="1044924" algn="l" defTabSz="1044924" rtl="0" eaLnBrk="1" latinLnBrk="0" hangingPunct="1">
      <a:defRPr sz="1400" kern="1200">
        <a:solidFill>
          <a:schemeClr val="tx1"/>
        </a:solidFill>
        <a:latin typeface="+mn-lt"/>
        <a:ea typeface="+mn-ea"/>
        <a:cs typeface="+mn-cs"/>
      </a:defRPr>
    </a:lvl3pPr>
    <a:lvl4pPr marL="1567386" algn="l" defTabSz="1044924" rtl="0" eaLnBrk="1" latinLnBrk="0" hangingPunct="1">
      <a:defRPr sz="1400" kern="1200">
        <a:solidFill>
          <a:schemeClr val="tx1"/>
        </a:solidFill>
        <a:latin typeface="+mn-lt"/>
        <a:ea typeface="+mn-ea"/>
        <a:cs typeface="+mn-cs"/>
      </a:defRPr>
    </a:lvl4pPr>
    <a:lvl5pPr marL="2089849" algn="l" defTabSz="1044924" rtl="0" eaLnBrk="1" latinLnBrk="0" hangingPunct="1">
      <a:defRPr sz="1400" kern="1200">
        <a:solidFill>
          <a:schemeClr val="tx1"/>
        </a:solidFill>
        <a:latin typeface="+mn-lt"/>
        <a:ea typeface="+mn-ea"/>
        <a:cs typeface="+mn-cs"/>
      </a:defRPr>
    </a:lvl5pPr>
    <a:lvl6pPr marL="2612311" algn="l" defTabSz="1044924" rtl="0" eaLnBrk="1" latinLnBrk="0" hangingPunct="1">
      <a:defRPr sz="1400" kern="1200">
        <a:solidFill>
          <a:schemeClr val="tx1"/>
        </a:solidFill>
        <a:latin typeface="+mn-lt"/>
        <a:ea typeface="+mn-ea"/>
        <a:cs typeface="+mn-cs"/>
      </a:defRPr>
    </a:lvl6pPr>
    <a:lvl7pPr marL="3134772" algn="l" defTabSz="1044924" rtl="0" eaLnBrk="1" latinLnBrk="0" hangingPunct="1">
      <a:defRPr sz="1400" kern="1200">
        <a:solidFill>
          <a:schemeClr val="tx1"/>
        </a:solidFill>
        <a:latin typeface="+mn-lt"/>
        <a:ea typeface="+mn-ea"/>
        <a:cs typeface="+mn-cs"/>
      </a:defRPr>
    </a:lvl7pPr>
    <a:lvl8pPr marL="3657234" algn="l" defTabSz="1044924" rtl="0" eaLnBrk="1" latinLnBrk="0" hangingPunct="1">
      <a:defRPr sz="1400" kern="1200">
        <a:solidFill>
          <a:schemeClr val="tx1"/>
        </a:solidFill>
        <a:latin typeface="+mn-lt"/>
        <a:ea typeface="+mn-ea"/>
        <a:cs typeface="+mn-cs"/>
      </a:defRPr>
    </a:lvl8pPr>
    <a:lvl9pPr marL="4179696" algn="l" defTabSz="104492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9927F71-13B9-4F8B-A7FA-06F36091B277}" type="slidenum">
              <a:rPr lang="en-US" smtClean="0"/>
              <a:pPr/>
              <a:t>1</a:t>
            </a:fld>
            <a:endParaRPr lang="en-US" dirty="0"/>
          </a:p>
        </p:txBody>
      </p:sp>
    </p:spTree>
    <p:extLst>
      <p:ext uri="{BB962C8B-B14F-4D97-AF65-F5344CB8AC3E}">
        <p14:creationId xmlns:p14="http://schemas.microsoft.com/office/powerpoint/2010/main" val="2661191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9927F71-13B9-4F8B-A7FA-06F36091B277}" type="slidenum">
              <a:rPr lang="en-US" smtClean="0"/>
              <a:pPr/>
              <a:t>11</a:t>
            </a:fld>
            <a:endParaRPr lang="en-US" dirty="0"/>
          </a:p>
        </p:txBody>
      </p:sp>
    </p:spTree>
    <p:extLst>
      <p:ext uri="{BB962C8B-B14F-4D97-AF65-F5344CB8AC3E}">
        <p14:creationId xmlns:p14="http://schemas.microsoft.com/office/powerpoint/2010/main" val="424879250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822960" y="1436744"/>
            <a:ext cx="9326880" cy="86062"/>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22960" y="4568281"/>
            <a:ext cx="9326880" cy="86062"/>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822960" y="1583764"/>
            <a:ext cx="9326880" cy="292608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8681736" y="4380825"/>
            <a:ext cx="1097280" cy="97536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946404" y="1527705"/>
            <a:ext cx="9111996" cy="3238195"/>
          </a:xfrm>
        </p:spPr>
        <p:txBody>
          <a:bodyPr anchor="ctr">
            <a:noAutofit/>
          </a:bodyPr>
          <a:lstStyle>
            <a:lvl1pPr algn="l">
              <a:lnSpc>
                <a:spcPct val="80000"/>
              </a:lnSpc>
              <a:defRPr sz="6827"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962863" y="4681728"/>
            <a:ext cx="7102145" cy="1141171"/>
          </a:xfrm>
        </p:spPr>
        <p:txBody>
          <a:bodyPr>
            <a:normAutofit/>
          </a:bodyPr>
          <a:lstStyle>
            <a:lvl1pPr marL="0" indent="0" algn="l">
              <a:buNone/>
              <a:defRPr sz="1920" b="0">
                <a:solidFill>
                  <a:schemeClr val="tx1"/>
                </a:solidFill>
              </a:defRPr>
            </a:lvl1pPr>
            <a:lvl2pPr marL="487695" indent="0" algn="ctr">
              <a:buNone/>
              <a:defRPr sz="1920"/>
            </a:lvl2pPr>
            <a:lvl3pPr marL="975390" indent="0" algn="ctr">
              <a:buNone/>
              <a:defRPr sz="1920"/>
            </a:lvl3pPr>
            <a:lvl4pPr marL="1463086" indent="0" algn="ctr">
              <a:buNone/>
              <a:defRPr sz="1920"/>
            </a:lvl4pPr>
            <a:lvl5pPr marL="1950781" indent="0" algn="ctr">
              <a:buNone/>
              <a:defRPr sz="1920"/>
            </a:lvl5pPr>
            <a:lvl6pPr marL="2438476" indent="0" algn="ctr">
              <a:buNone/>
              <a:defRPr sz="1920"/>
            </a:lvl6pPr>
            <a:lvl7pPr marL="2926171" indent="0" algn="ctr">
              <a:buNone/>
              <a:defRPr sz="1920"/>
            </a:lvl7pPr>
            <a:lvl8pPr marL="3413867" indent="0" algn="ctr">
              <a:buNone/>
              <a:defRPr sz="1920"/>
            </a:lvl8pPr>
            <a:lvl9pPr marL="3901562"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7D6C99-5CFE-45D6-8072-37C1C432357D}" type="datetime1">
              <a:rPr lang="en-US" smtClean="0"/>
              <a:pPr/>
              <a:t>11/20/2023</a:t>
            </a:fld>
            <a:endParaRPr lang="en-US" dirty="0"/>
          </a:p>
        </p:txBody>
      </p:sp>
      <p:sp>
        <p:nvSpPr>
          <p:cNvPr id="5" name="Footer Placeholder 4"/>
          <p:cNvSpPr>
            <a:spLocks noGrp="1"/>
          </p:cNvSpPr>
          <p:nvPr>
            <p:ph type="ftr" sz="quarter" idx="11"/>
          </p:nvPr>
        </p:nvSpPr>
        <p:spPr>
          <a:xfrm>
            <a:off x="975366" y="6690971"/>
            <a:ext cx="5694883" cy="389467"/>
          </a:xfrm>
        </p:spPr>
        <p:txBody>
          <a:bodyPr/>
          <a:lstStyle/>
          <a:p>
            <a:r>
              <a:rPr lang="en-US"/>
              <a:t>Project Title Goes here</a:t>
            </a:r>
            <a:endParaRPr lang="en-US" dirty="0"/>
          </a:p>
        </p:txBody>
      </p:sp>
      <p:sp>
        <p:nvSpPr>
          <p:cNvPr id="6" name="Slide Number Placeholder 5"/>
          <p:cNvSpPr>
            <a:spLocks noGrp="1"/>
          </p:cNvSpPr>
          <p:nvPr>
            <p:ph type="sldNum" sz="quarter" idx="12"/>
          </p:nvPr>
        </p:nvSpPr>
        <p:spPr>
          <a:xfrm>
            <a:off x="8693137" y="4509008"/>
            <a:ext cx="1074481" cy="682752"/>
          </a:xfrm>
        </p:spPr>
        <p:txBody>
          <a:bodyPr/>
          <a:lstStyle>
            <a:lvl1pPr>
              <a:defRPr sz="2987" b="1"/>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61496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1EB6AD-1CD7-486E-83D6-A6955BE11373}" type="datetime1">
              <a:rPr lang="en-US" smtClean="0"/>
              <a:pPr/>
              <a:t>11/20/2023</a:t>
            </a:fld>
            <a:endParaRPr lang="en-US" dirty="0"/>
          </a:p>
        </p:txBody>
      </p:sp>
      <p:sp>
        <p:nvSpPr>
          <p:cNvPr id="8" name="Footer Placeholder 7"/>
          <p:cNvSpPr>
            <a:spLocks noGrp="1"/>
          </p:cNvSpPr>
          <p:nvPr>
            <p:ph type="ftr" sz="quarter" idx="11"/>
          </p:nvPr>
        </p:nvSpPr>
        <p:spPr/>
        <p:txBody>
          <a:bodyPr/>
          <a:lstStyle/>
          <a:p>
            <a:r>
              <a:rPr lang="en-US"/>
              <a:t>Project Title Goes here</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7651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5245855"/>
            <a:ext cx="10972800" cy="2069344"/>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950415" y="1306982"/>
            <a:ext cx="8353044" cy="3755136"/>
          </a:xfrm>
        </p:spPr>
        <p:txBody>
          <a:bodyPr anchor="ctr">
            <a:normAutofit/>
          </a:bodyPr>
          <a:lstStyle>
            <a:lvl1pPr>
              <a:lnSpc>
                <a:spcPct val="80000"/>
              </a:lnSpc>
              <a:defRPr sz="6827" b="0"/>
            </a:lvl1pPr>
          </a:lstStyle>
          <a:p>
            <a:r>
              <a:rPr lang="en-US"/>
              <a:t>Click to edit Master title style</a:t>
            </a:r>
            <a:endParaRPr lang="en-US" dirty="0"/>
          </a:p>
        </p:txBody>
      </p:sp>
      <p:sp>
        <p:nvSpPr>
          <p:cNvPr id="3" name="Text Placeholder 2"/>
          <p:cNvSpPr>
            <a:spLocks noGrp="1"/>
          </p:cNvSpPr>
          <p:nvPr>
            <p:ph type="body" idx="1"/>
          </p:nvPr>
        </p:nvSpPr>
        <p:spPr>
          <a:xfrm>
            <a:off x="1949196" y="5354726"/>
            <a:ext cx="8147304" cy="1137920"/>
          </a:xfrm>
        </p:spPr>
        <p:txBody>
          <a:bodyPr anchor="t">
            <a:normAutofit/>
          </a:bodyPr>
          <a:lstStyle>
            <a:lvl1pPr marL="0" indent="0">
              <a:buNone/>
              <a:defRPr sz="1920" b="0">
                <a:solidFill>
                  <a:schemeClr val="accent1">
                    <a:lumMod val="5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734301" y="6690971"/>
            <a:ext cx="2379878" cy="389467"/>
          </a:xfrm>
        </p:spPr>
        <p:txBody>
          <a:bodyPr/>
          <a:lstStyle>
            <a:lvl1pPr>
              <a:defRPr>
                <a:solidFill>
                  <a:schemeClr val="accent1">
                    <a:lumMod val="50000"/>
                  </a:schemeClr>
                </a:solidFill>
              </a:defRPr>
            </a:lvl1pPr>
          </a:lstStyle>
          <a:p>
            <a:fld id="{4D6DBA64-48F6-4403-8AEF-C8D894F260EC}" type="datetime1">
              <a:rPr lang="en-US" smtClean="0"/>
              <a:pPr/>
              <a:t>11/20/2023</a:t>
            </a:fld>
            <a:endParaRPr lang="en-US" dirty="0"/>
          </a:p>
        </p:txBody>
      </p:sp>
      <p:sp>
        <p:nvSpPr>
          <p:cNvPr id="5" name="Footer Placeholder 4"/>
          <p:cNvSpPr>
            <a:spLocks noGrp="1"/>
          </p:cNvSpPr>
          <p:nvPr>
            <p:ph type="ftr" sz="quarter" idx="11"/>
          </p:nvPr>
        </p:nvSpPr>
        <p:spPr>
          <a:xfrm>
            <a:off x="1963319" y="6690970"/>
            <a:ext cx="5694883" cy="389467"/>
          </a:xfrm>
        </p:spPr>
        <p:txBody>
          <a:bodyPr/>
          <a:lstStyle>
            <a:lvl1pPr>
              <a:defRPr>
                <a:solidFill>
                  <a:schemeClr val="accent1">
                    <a:lumMod val="50000"/>
                  </a:schemeClr>
                </a:solidFill>
              </a:defRPr>
            </a:lvl1pPr>
          </a:lstStyle>
          <a:p>
            <a:r>
              <a:rPr lang="en-US"/>
              <a:t>Project Title Goes here</a:t>
            </a:r>
            <a:endParaRPr lang="en-US" dirty="0"/>
          </a:p>
        </p:txBody>
      </p:sp>
      <p:grpSp>
        <p:nvGrpSpPr>
          <p:cNvPr id="8" name="Group 7"/>
          <p:cNvGrpSpPr>
            <a:grpSpLocks noChangeAspect="1"/>
          </p:cNvGrpSpPr>
          <p:nvPr/>
        </p:nvGrpSpPr>
        <p:grpSpPr>
          <a:xfrm>
            <a:off x="760634" y="2592665"/>
            <a:ext cx="1097280" cy="97536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774540" y="2675848"/>
            <a:ext cx="1069469" cy="768354"/>
          </a:xfrm>
        </p:spPr>
        <p:txBody>
          <a:bodyPr/>
          <a:lstStyle>
            <a:lvl1pPr>
              <a:defRPr sz="2987"/>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9564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2340864"/>
            <a:ext cx="4389120" cy="4242816"/>
          </a:xfrm>
        </p:spPr>
        <p:txBody>
          <a:bodyPr/>
          <a:lstStyle>
            <a:lvl1pPr>
              <a:defRPr sz="2133"/>
            </a:lvl1pPr>
            <a:lvl2pPr>
              <a:defRPr sz="1920"/>
            </a:lvl2pPr>
            <a:lvl3pPr>
              <a:defRPr sz="1707"/>
            </a:lvl3pPr>
            <a:lvl4pPr>
              <a:defRPr sz="1707"/>
            </a:lvl4pPr>
            <a:lvl5pPr>
              <a:defRPr sz="1707"/>
            </a:lvl5pPr>
            <a:lvl6pPr>
              <a:defRPr sz="1707"/>
            </a:lvl6pPr>
            <a:lvl7pPr>
              <a:defRPr sz="1707"/>
            </a:lvl7pPr>
            <a:lvl8pPr>
              <a:defRPr sz="1707"/>
            </a:lvl8pPr>
            <a:lvl9pPr>
              <a:defRPr sz="17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750662" y="2340864"/>
            <a:ext cx="4389120" cy="4242816"/>
          </a:xfrm>
        </p:spPr>
        <p:txBody>
          <a:bodyPr/>
          <a:lstStyle>
            <a:lvl1pPr>
              <a:defRPr sz="2133"/>
            </a:lvl1pPr>
            <a:lvl2pPr>
              <a:defRPr sz="1920"/>
            </a:lvl2pPr>
            <a:lvl3pPr>
              <a:defRPr sz="1707"/>
            </a:lvl3pPr>
            <a:lvl4pPr>
              <a:defRPr sz="1707"/>
            </a:lvl4pPr>
            <a:lvl5pPr>
              <a:defRPr sz="1707"/>
            </a:lvl5pPr>
            <a:lvl6pPr>
              <a:defRPr sz="1707"/>
            </a:lvl6pPr>
            <a:lvl7pPr>
              <a:defRPr sz="1707"/>
            </a:lvl7pPr>
            <a:lvl8pPr>
              <a:defRPr sz="1707"/>
            </a:lvl8pPr>
            <a:lvl9pPr>
              <a:defRPr sz="17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A6D6FE-4F4E-4808-9395-3582790F56E5}" type="datetime1">
              <a:rPr lang="en-US" smtClean="0"/>
              <a:pPr/>
              <a:t>11/20/2023</a:t>
            </a:fld>
            <a:endParaRPr lang="en-US" dirty="0"/>
          </a:p>
        </p:txBody>
      </p:sp>
      <p:sp>
        <p:nvSpPr>
          <p:cNvPr id="6" name="Footer Placeholder 5"/>
          <p:cNvSpPr>
            <a:spLocks noGrp="1"/>
          </p:cNvSpPr>
          <p:nvPr>
            <p:ph type="ftr" sz="quarter" idx="11"/>
          </p:nvPr>
        </p:nvSpPr>
        <p:spPr/>
        <p:txBody>
          <a:bodyPr/>
          <a:lstStyle/>
          <a:p>
            <a:r>
              <a:rPr lang="en-US"/>
              <a:t>Project Title Goes here</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27607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2184806"/>
            <a:ext cx="4389120" cy="682752"/>
          </a:xfrm>
        </p:spPr>
        <p:txBody>
          <a:bodyPr anchor="ctr">
            <a:normAutofit/>
          </a:bodyPr>
          <a:lstStyle>
            <a:lvl1pPr marL="0" indent="0">
              <a:buNone/>
              <a:defRPr sz="2133" b="1">
                <a:solidFill>
                  <a:schemeClr val="accent1">
                    <a:lumMod val="75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4" name="Content Placeholder 3"/>
          <p:cNvSpPr>
            <a:spLocks noGrp="1"/>
          </p:cNvSpPr>
          <p:nvPr>
            <p:ph sz="half" idx="2"/>
          </p:nvPr>
        </p:nvSpPr>
        <p:spPr>
          <a:xfrm>
            <a:off x="822960" y="2926080"/>
            <a:ext cx="4389120" cy="3511296"/>
          </a:xfrm>
        </p:spPr>
        <p:txBody>
          <a:bodyPr/>
          <a:lstStyle>
            <a:lvl1pPr>
              <a:defRPr sz="2133"/>
            </a:lvl1pPr>
            <a:lvl2pPr>
              <a:defRPr sz="1920"/>
            </a:lvl2pPr>
            <a:lvl3pPr>
              <a:defRPr sz="1707"/>
            </a:lvl3pPr>
            <a:lvl4pPr>
              <a:defRPr sz="1707"/>
            </a:lvl4pPr>
            <a:lvl5pPr>
              <a:defRPr sz="1707"/>
            </a:lvl5pPr>
            <a:lvl6pPr>
              <a:defRPr sz="1707"/>
            </a:lvl6pPr>
            <a:lvl7pPr>
              <a:defRPr sz="1707"/>
            </a:lvl7pPr>
            <a:lvl8pPr>
              <a:defRPr sz="1707"/>
            </a:lvl8pPr>
            <a:lvl9pPr>
              <a:defRPr sz="17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84952" y="2184806"/>
            <a:ext cx="4389120" cy="682752"/>
          </a:xfrm>
        </p:spPr>
        <p:txBody>
          <a:bodyPr anchor="ctr">
            <a:normAutofit/>
          </a:bodyPr>
          <a:lstStyle>
            <a:lvl1pPr marL="0" indent="0">
              <a:buNone/>
              <a:defRPr sz="2133" b="1">
                <a:solidFill>
                  <a:schemeClr val="accent1">
                    <a:lumMod val="75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6" name="Content Placeholder 5"/>
          <p:cNvSpPr>
            <a:spLocks noGrp="1"/>
          </p:cNvSpPr>
          <p:nvPr>
            <p:ph sz="quarter" idx="4"/>
          </p:nvPr>
        </p:nvSpPr>
        <p:spPr>
          <a:xfrm>
            <a:off x="5784952" y="2926080"/>
            <a:ext cx="4389120" cy="3511296"/>
          </a:xfrm>
        </p:spPr>
        <p:txBody>
          <a:bodyPr/>
          <a:lstStyle>
            <a:lvl1pPr>
              <a:defRPr sz="2133"/>
            </a:lvl1pPr>
            <a:lvl2pPr>
              <a:defRPr sz="1920"/>
            </a:lvl2pPr>
            <a:lvl3pPr>
              <a:defRPr sz="1707"/>
            </a:lvl3pPr>
            <a:lvl4pPr>
              <a:defRPr sz="1707"/>
            </a:lvl4pPr>
            <a:lvl5pPr>
              <a:defRPr sz="1707"/>
            </a:lvl5pPr>
            <a:lvl6pPr>
              <a:defRPr sz="1707"/>
            </a:lvl6pPr>
            <a:lvl7pPr>
              <a:defRPr sz="1707"/>
            </a:lvl7pPr>
            <a:lvl8pPr>
              <a:defRPr sz="1707"/>
            </a:lvl8pPr>
            <a:lvl9pPr>
              <a:defRPr sz="17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316207-AD5D-48B3-919F-79A1F24C4101}" type="datetime1">
              <a:rPr lang="en-US" smtClean="0"/>
              <a:pPr/>
              <a:t>11/20/2023</a:t>
            </a:fld>
            <a:endParaRPr lang="en-US" dirty="0"/>
          </a:p>
        </p:txBody>
      </p:sp>
      <p:sp>
        <p:nvSpPr>
          <p:cNvPr id="8" name="Footer Placeholder 7"/>
          <p:cNvSpPr>
            <a:spLocks noGrp="1"/>
          </p:cNvSpPr>
          <p:nvPr>
            <p:ph type="ftr" sz="quarter" idx="11"/>
          </p:nvPr>
        </p:nvSpPr>
        <p:spPr/>
        <p:txBody>
          <a:bodyPr/>
          <a:lstStyle/>
          <a:p>
            <a:r>
              <a:rPr lang="en-US"/>
              <a:t>Project Title Goes here</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29231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214C0D45-5405-4A76-86E0-4B537B79B3D7}" type="datetime1">
              <a:rPr lang="en-US" smtClean="0"/>
              <a:pPr/>
              <a:t>11/20/2023</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r>
              <a:rPr lang="en-US"/>
              <a:t>Project Title Goes here</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006155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6697AC-A9C7-4A2B-A1BD-6EE04E530252}" type="datetime1">
              <a:rPr lang="en-US" smtClean="0"/>
              <a:pPr/>
              <a:t>11/20/2023</a:t>
            </a:fld>
            <a:endParaRPr lang="en-US" dirty="0"/>
          </a:p>
        </p:txBody>
      </p:sp>
      <p:sp>
        <p:nvSpPr>
          <p:cNvPr id="3" name="Footer Placeholder 2"/>
          <p:cNvSpPr>
            <a:spLocks noGrp="1"/>
          </p:cNvSpPr>
          <p:nvPr>
            <p:ph type="ftr" sz="quarter" idx="11"/>
          </p:nvPr>
        </p:nvSpPr>
        <p:spPr/>
        <p:txBody>
          <a:bodyPr/>
          <a:lstStyle/>
          <a:p>
            <a:r>
              <a:rPr lang="en-US"/>
              <a:t>Project Title Goes here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5418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7473367" y="2"/>
            <a:ext cx="3499433" cy="73151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694676" y="731520"/>
            <a:ext cx="2880360" cy="1853184"/>
          </a:xfrm>
        </p:spPr>
        <p:txBody>
          <a:bodyPr anchor="b">
            <a:normAutofit/>
          </a:bodyPr>
          <a:lstStyle>
            <a:lvl1pPr>
              <a:defRPr sz="2987" b="0"/>
            </a:lvl1pPr>
          </a:lstStyle>
          <a:p>
            <a:r>
              <a:rPr lang="en-US"/>
              <a:t>Click to edit Master title style</a:t>
            </a:r>
            <a:endParaRPr lang="en-US" dirty="0"/>
          </a:p>
        </p:txBody>
      </p:sp>
      <p:sp>
        <p:nvSpPr>
          <p:cNvPr id="3" name="Content Placeholder 2"/>
          <p:cNvSpPr>
            <a:spLocks noGrp="1"/>
          </p:cNvSpPr>
          <p:nvPr>
            <p:ph idx="1"/>
          </p:nvPr>
        </p:nvSpPr>
        <p:spPr>
          <a:xfrm>
            <a:off x="754380" y="731520"/>
            <a:ext cx="6040526" cy="5354726"/>
          </a:xfrm>
        </p:spPr>
        <p:txBody>
          <a:bodyPr/>
          <a:lstStyle>
            <a:lvl1pPr>
              <a:defRPr sz="2133"/>
            </a:lvl1pPr>
            <a:lvl2pPr>
              <a:defRPr sz="1920"/>
            </a:lvl2pPr>
            <a:lvl3pPr>
              <a:defRPr sz="1707"/>
            </a:lvl3pPr>
            <a:lvl4pPr>
              <a:defRPr sz="1707"/>
            </a:lvl4pPr>
            <a:lvl5pPr>
              <a:defRPr sz="1707"/>
            </a:lvl5pPr>
            <a:lvl6pPr>
              <a:defRPr sz="1707"/>
            </a:lvl6pPr>
            <a:lvl7pPr>
              <a:defRPr sz="1707"/>
            </a:lvl7pPr>
            <a:lvl8pPr>
              <a:defRPr sz="1707"/>
            </a:lvl8pPr>
            <a:lvl9pPr>
              <a:defRPr sz="17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94676" y="2584704"/>
            <a:ext cx="2880360" cy="3511296"/>
          </a:xfrm>
        </p:spPr>
        <p:txBody>
          <a:bodyPr>
            <a:normAutofit/>
          </a:bodyPr>
          <a:lstStyle>
            <a:lvl1pPr marL="0" indent="0">
              <a:lnSpc>
                <a:spcPct val="100000"/>
              </a:lnSpc>
              <a:spcBef>
                <a:spcPts val="1067"/>
              </a:spcBef>
              <a:buNone/>
              <a:defRPr sz="1440">
                <a:solidFill>
                  <a:schemeClr val="accent1">
                    <a:lumMod val="50000"/>
                  </a:schemeClr>
                </a:solidFill>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grpSp>
        <p:nvGrpSpPr>
          <p:cNvPr id="12" name="Group 11"/>
          <p:cNvGrpSpPr/>
          <p:nvPr/>
        </p:nvGrpSpPr>
        <p:grpSpPr>
          <a:xfrm>
            <a:off x="10227197" y="6672275"/>
            <a:ext cx="471830" cy="419405"/>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D04C4CB7-09FE-4766-BD7F-D6F4F023C6E5}" type="datetime1">
              <a:rPr lang="en-US" smtClean="0"/>
              <a:pPr/>
              <a:t>11/20/2023</a:t>
            </a:fld>
            <a:endParaRPr lang="en-US" dirty="0"/>
          </a:p>
        </p:txBody>
      </p:sp>
      <p:sp>
        <p:nvSpPr>
          <p:cNvPr id="10" name="Footer Placeholder 9"/>
          <p:cNvSpPr>
            <a:spLocks noGrp="1"/>
          </p:cNvSpPr>
          <p:nvPr>
            <p:ph type="ftr" sz="quarter" idx="11"/>
          </p:nvPr>
        </p:nvSpPr>
        <p:spPr/>
        <p:txBody>
          <a:bodyPr/>
          <a:lstStyle/>
          <a:p>
            <a:r>
              <a:rPr lang="en-US"/>
              <a:t>Project Title Goes here</a:t>
            </a:r>
            <a:endParaRPr lang="en-US" dirty="0"/>
          </a:p>
        </p:txBody>
      </p:sp>
      <p:sp>
        <p:nvSpPr>
          <p:cNvPr id="11" name="Slide Number Placeholder 10"/>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3039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7473367" y="2"/>
            <a:ext cx="3499433" cy="73151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694676" y="731520"/>
            <a:ext cx="2880360" cy="1853184"/>
          </a:xfrm>
        </p:spPr>
        <p:txBody>
          <a:bodyPr anchor="b">
            <a:normAutofit/>
          </a:bodyPr>
          <a:lstStyle>
            <a:lvl1pPr>
              <a:defRPr sz="2987"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 y="0"/>
            <a:ext cx="7473366" cy="7315200"/>
          </a:xfrm>
          <a:solidFill>
            <a:schemeClr val="tx2">
              <a:lumMod val="20000"/>
              <a:lumOff val="80000"/>
            </a:schemeClr>
          </a:solidFill>
        </p:spPr>
        <p:txBody>
          <a:bodyPr anchor="t"/>
          <a:lstStyle>
            <a:lvl1pPr marL="0" indent="0">
              <a:buNone/>
              <a:defRPr sz="341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r>
              <a:rPr lang="en-US"/>
              <a:t>Click icon to add picture</a:t>
            </a:r>
            <a:endParaRPr lang="en-US" dirty="0"/>
          </a:p>
        </p:txBody>
      </p:sp>
      <p:sp>
        <p:nvSpPr>
          <p:cNvPr id="4" name="Text Placeholder 3"/>
          <p:cNvSpPr>
            <a:spLocks noGrp="1"/>
          </p:cNvSpPr>
          <p:nvPr>
            <p:ph type="body" sz="half" idx="2"/>
          </p:nvPr>
        </p:nvSpPr>
        <p:spPr>
          <a:xfrm>
            <a:off x="7694676" y="2584704"/>
            <a:ext cx="2880360" cy="3511296"/>
          </a:xfrm>
        </p:spPr>
        <p:txBody>
          <a:bodyPr>
            <a:normAutofit/>
          </a:bodyPr>
          <a:lstStyle>
            <a:lvl1pPr marL="0" indent="0">
              <a:lnSpc>
                <a:spcPct val="100000"/>
              </a:lnSpc>
              <a:spcBef>
                <a:spcPts val="1067"/>
              </a:spcBef>
              <a:buNone/>
              <a:defRPr sz="1440">
                <a:solidFill>
                  <a:schemeClr val="accent1">
                    <a:lumMod val="50000"/>
                  </a:schemeClr>
                </a:solidFill>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grpSp>
        <p:nvGrpSpPr>
          <p:cNvPr id="12" name="Group 11"/>
          <p:cNvGrpSpPr/>
          <p:nvPr/>
        </p:nvGrpSpPr>
        <p:grpSpPr>
          <a:xfrm>
            <a:off x="10227197" y="6672275"/>
            <a:ext cx="471830" cy="419405"/>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94A99491-784D-4935-B278-A1C057BA9BCD}" type="datetime1">
              <a:rPr lang="en-US" smtClean="0"/>
              <a:pPr/>
              <a:t>11/20/2023</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34681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EEA0DA-3596-4130-9EBF-037B5B4086BD}" type="datetime1">
              <a:rPr lang="en-US" smtClean="0"/>
              <a:pPr/>
              <a:t>11/20/2023</a:t>
            </a:fld>
            <a:endParaRPr lang="en-US" dirty="0"/>
          </a:p>
        </p:txBody>
      </p:sp>
      <p:sp>
        <p:nvSpPr>
          <p:cNvPr id="8" name="Footer Placeholder 7"/>
          <p:cNvSpPr>
            <a:spLocks noGrp="1"/>
          </p:cNvSpPr>
          <p:nvPr>
            <p:ph type="ftr" sz="quarter" idx="11"/>
          </p:nvPr>
        </p:nvSpPr>
        <p:spPr/>
        <p:txBody>
          <a:bodyPr/>
          <a:lstStyle/>
          <a:p>
            <a:r>
              <a:rPr lang="en-US"/>
              <a:t>Project Title Goes here</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76930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2411" y="568960"/>
            <a:ext cx="2297430" cy="601472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60121" y="568960"/>
            <a:ext cx="6755130" cy="601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A96557-AC59-4AA0-AE89-AF1D224DAF6F}" type="datetime1">
              <a:rPr lang="en-US" smtClean="0"/>
              <a:pPr/>
              <a:t>11/20/2023</a:t>
            </a:fld>
            <a:endParaRPr lang="en-US" dirty="0"/>
          </a:p>
        </p:txBody>
      </p:sp>
      <p:sp>
        <p:nvSpPr>
          <p:cNvPr id="8" name="Footer Placeholder 7"/>
          <p:cNvSpPr>
            <a:spLocks noGrp="1"/>
          </p:cNvSpPr>
          <p:nvPr>
            <p:ph type="ftr" sz="quarter" idx="11"/>
          </p:nvPr>
        </p:nvSpPr>
        <p:spPr/>
        <p:txBody>
          <a:bodyPr/>
          <a:lstStyle/>
          <a:p>
            <a:r>
              <a:rPr lang="en-US"/>
              <a:t>Project Title Goes here</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92328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10227197" y="6672275"/>
            <a:ext cx="471830" cy="419405"/>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822960" y="516941"/>
            <a:ext cx="9326880" cy="171663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22960" y="2262835"/>
            <a:ext cx="9326880" cy="43208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190842" y="6690971"/>
            <a:ext cx="2946197" cy="389467"/>
          </a:xfrm>
          <a:prstGeom prst="rect">
            <a:avLst/>
          </a:prstGeom>
        </p:spPr>
        <p:txBody>
          <a:bodyPr vert="horz" lIns="91440" tIns="45720" rIns="91440" bIns="45720" rtlCol="0" anchor="ctr"/>
          <a:lstStyle>
            <a:lvl1pPr algn="r">
              <a:defRPr sz="1067">
                <a:solidFill>
                  <a:schemeClr val="accent1">
                    <a:lumMod val="50000"/>
                  </a:schemeClr>
                </a:solidFill>
              </a:defRPr>
            </a:lvl1pPr>
          </a:lstStyle>
          <a:p>
            <a:fld id="{B9DA881F-1C40-45F7-AE9D-E3B7DC999003}" type="datetime1">
              <a:rPr lang="en-US" smtClean="0"/>
              <a:pPr/>
              <a:t>11/20/2023</a:t>
            </a:fld>
            <a:endParaRPr lang="en-US" dirty="0"/>
          </a:p>
        </p:txBody>
      </p:sp>
      <p:sp>
        <p:nvSpPr>
          <p:cNvPr id="5" name="Footer Placeholder 4"/>
          <p:cNvSpPr>
            <a:spLocks noGrp="1"/>
          </p:cNvSpPr>
          <p:nvPr>
            <p:ph type="ftr" sz="quarter" idx="3"/>
          </p:nvPr>
        </p:nvSpPr>
        <p:spPr>
          <a:xfrm>
            <a:off x="822960" y="6690971"/>
            <a:ext cx="5694883" cy="389467"/>
          </a:xfrm>
          <a:prstGeom prst="rect">
            <a:avLst/>
          </a:prstGeom>
        </p:spPr>
        <p:txBody>
          <a:bodyPr vert="horz" lIns="91440" tIns="45720" rIns="91440" bIns="45720" rtlCol="0" anchor="ctr"/>
          <a:lstStyle>
            <a:lvl1pPr algn="l">
              <a:defRPr sz="1067">
                <a:solidFill>
                  <a:schemeClr val="accent1">
                    <a:lumMod val="50000"/>
                  </a:schemeClr>
                </a:solidFill>
              </a:defRPr>
            </a:lvl1pPr>
          </a:lstStyle>
          <a:p>
            <a:r>
              <a:rPr lang="en-US"/>
              <a:t>Project Title Goes here</a:t>
            </a:r>
            <a:endParaRPr lang="en-US" dirty="0"/>
          </a:p>
        </p:txBody>
      </p:sp>
      <p:sp>
        <p:nvSpPr>
          <p:cNvPr id="6" name="Slide Number Placeholder 5"/>
          <p:cNvSpPr>
            <a:spLocks noGrp="1"/>
          </p:cNvSpPr>
          <p:nvPr>
            <p:ph type="sldNum" sz="quarter" idx="4"/>
          </p:nvPr>
        </p:nvSpPr>
        <p:spPr>
          <a:xfrm>
            <a:off x="10180015" y="6690971"/>
            <a:ext cx="576072" cy="389467"/>
          </a:xfrm>
          <a:prstGeom prst="rect">
            <a:avLst/>
          </a:prstGeom>
        </p:spPr>
        <p:txBody>
          <a:bodyPr vert="horz" lIns="91440" tIns="45720" rIns="91440" bIns="45720" rtlCol="0" anchor="ctr"/>
          <a:lstStyle>
            <a:lvl1pPr algn="ctr">
              <a:defRPr sz="1173" b="1" spc="-75" baseline="0">
                <a:solidFill>
                  <a:srgbClr val="FFFFFF"/>
                </a:solidFill>
                <a:latin typeface="+mn-lt"/>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0715310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75390" rtl="0" eaLnBrk="1" latinLnBrk="0" hangingPunct="1">
        <a:lnSpc>
          <a:spcPct val="90000"/>
        </a:lnSpc>
        <a:spcBef>
          <a:spcPct val="0"/>
        </a:spcBef>
        <a:buNone/>
        <a:defRPr sz="448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95078" indent="-195078" algn="l" defTabSz="975390" rtl="0" eaLnBrk="1" latinLnBrk="0" hangingPunct="1">
        <a:lnSpc>
          <a:spcPct val="90000"/>
        </a:lnSpc>
        <a:spcBef>
          <a:spcPts val="1280"/>
        </a:spcBef>
        <a:buClr>
          <a:schemeClr val="accent1">
            <a:lumMod val="75000"/>
          </a:schemeClr>
        </a:buClr>
        <a:buSzPct val="85000"/>
        <a:buFont typeface="Wingdings" pitchFamily="2" charset="2"/>
        <a:buChar char="§"/>
        <a:defRPr sz="2133" kern="1200">
          <a:solidFill>
            <a:schemeClr val="tx1"/>
          </a:solidFill>
          <a:latin typeface="+mn-lt"/>
          <a:ea typeface="+mn-ea"/>
          <a:cs typeface="+mn-cs"/>
        </a:defRPr>
      </a:lvl1pPr>
      <a:lvl2pPr marL="487695" indent="-19507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920" kern="1200">
          <a:solidFill>
            <a:schemeClr val="tx1"/>
          </a:solidFill>
          <a:latin typeface="+mn-lt"/>
          <a:ea typeface="+mn-ea"/>
          <a:cs typeface="+mn-cs"/>
        </a:defRPr>
      </a:lvl2pPr>
      <a:lvl3pPr marL="780312" indent="-19507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707" kern="1200">
          <a:solidFill>
            <a:schemeClr val="tx1"/>
          </a:solidFill>
          <a:latin typeface="+mn-lt"/>
          <a:ea typeface="+mn-ea"/>
          <a:cs typeface="+mn-cs"/>
        </a:defRPr>
      </a:lvl3pPr>
      <a:lvl4pPr marL="1072930" indent="-19507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707" kern="1200">
          <a:solidFill>
            <a:schemeClr val="tx1"/>
          </a:solidFill>
          <a:latin typeface="+mn-lt"/>
          <a:ea typeface="+mn-ea"/>
          <a:cs typeface="+mn-cs"/>
        </a:defRPr>
      </a:lvl4pPr>
      <a:lvl5pPr marL="1365547" indent="-19507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707" kern="1200">
          <a:solidFill>
            <a:schemeClr val="tx1"/>
          </a:solidFill>
          <a:latin typeface="+mn-lt"/>
          <a:ea typeface="+mn-ea"/>
          <a:cs typeface="+mn-cs"/>
        </a:defRPr>
      </a:lvl5pPr>
      <a:lvl6pPr marL="1706720" indent="-24384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707" kern="1200">
          <a:solidFill>
            <a:schemeClr val="tx1"/>
          </a:solidFill>
          <a:latin typeface="+mn-lt"/>
          <a:ea typeface="+mn-ea"/>
          <a:cs typeface="+mn-cs"/>
        </a:defRPr>
      </a:lvl6pPr>
      <a:lvl7pPr marL="2026730" indent="-24384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707" kern="1200">
          <a:solidFill>
            <a:schemeClr val="tx1"/>
          </a:solidFill>
          <a:latin typeface="+mn-lt"/>
          <a:ea typeface="+mn-ea"/>
          <a:cs typeface="+mn-cs"/>
        </a:defRPr>
      </a:lvl7pPr>
      <a:lvl8pPr marL="2346740" indent="-24384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707" kern="1200">
          <a:solidFill>
            <a:schemeClr val="tx1"/>
          </a:solidFill>
          <a:latin typeface="+mn-lt"/>
          <a:ea typeface="+mn-ea"/>
          <a:cs typeface="+mn-cs"/>
        </a:defRPr>
      </a:lvl8pPr>
      <a:lvl9pPr marL="2666750" indent="-243848" algn="l" defTabSz="975390" rtl="0" eaLnBrk="1" latinLnBrk="0" hangingPunct="1">
        <a:lnSpc>
          <a:spcPct val="90000"/>
        </a:lnSpc>
        <a:spcBef>
          <a:spcPts val="427"/>
        </a:spcBef>
        <a:spcAft>
          <a:spcPts val="213"/>
        </a:spcAft>
        <a:buClr>
          <a:schemeClr val="accent1">
            <a:lumMod val="75000"/>
          </a:schemeClr>
        </a:buClr>
        <a:buSzPct val="85000"/>
        <a:buFont typeface="Wingdings" pitchFamily="2" charset="2"/>
        <a:buChar char="§"/>
        <a:defRPr sz="1707" kern="1200">
          <a:solidFill>
            <a:schemeClr val="tx1"/>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0972800" cy="1219200"/>
          </a:xfrm>
        </p:spPr>
        <p:style>
          <a:lnRef idx="3">
            <a:schemeClr val="lt1"/>
          </a:lnRef>
          <a:fillRef idx="1">
            <a:schemeClr val="accent1"/>
          </a:fillRef>
          <a:effectRef idx="1">
            <a:schemeClr val="accent1"/>
          </a:effectRef>
          <a:fontRef idx="minor">
            <a:schemeClr val="lt1"/>
          </a:fontRef>
        </p:style>
        <p:txBody>
          <a:bodyPr>
            <a:normAutofit/>
          </a:bodyPr>
          <a:lstStyle/>
          <a:p>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SINHGAD ACADEMY OF ENGINEERING</a:t>
            </a:r>
            <a:endParaRPr lang="en-US" sz="4400" dirty="0">
              <a:solidFill>
                <a:schemeClr val="bg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42900" y="1471139"/>
            <a:ext cx="10287000" cy="3024662"/>
          </a:xfrm>
        </p:spPr>
        <p:txBody>
          <a:bodyPr>
            <a:normAutofit/>
          </a:bodyPr>
          <a:lstStyle/>
          <a:p>
            <a:pPr algn="ctr"/>
            <a:endParaRPr lang="en-US" sz="2800" dirty="0">
              <a:solidFill>
                <a:schemeClr val="tx1"/>
              </a:solidFill>
              <a:latin typeface="Times New Roman" pitchFamily="18" charset="0"/>
              <a:cs typeface="Times New Roman" pitchFamily="18" charset="0"/>
            </a:endParaRPr>
          </a:p>
          <a:p>
            <a:pPr algn="ctr"/>
            <a:r>
              <a:rPr lang="en-US" sz="2800" b="1" dirty="0">
                <a:latin typeface="Times New Roman" pitchFamily="18" charset="0"/>
                <a:cs typeface="Times New Roman" pitchFamily="18" charset="0"/>
              </a:rPr>
              <a:t>Fake Instagram Profile Identification and Classification Using machine Learning</a:t>
            </a:r>
            <a:endParaRPr lang="en-US" sz="28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228600" y="2464829"/>
            <a:ext cx="10972800" cy="2895600"/>
          </a:xfrm>
          <a:prstGeom prst="rect">
            <a:avLst/>
          </a:prstGeom>
        </p:spPr>
        <p:txBody>
          <a:bodyPr vert="horz" lIns="104493" tIns="52247" rIns="104493" bIns="52247" rtlCol="0">
            <a:normAutofit/>
          </a:bodyPr>
          <a:lstStyle/>
          <a:p>
            <a:pPr algn="ctr">
              <a:spcBef>
                <a:spcPct val="20000"/>
              </a:spcBef>
              <a:defRPr/>
            </a:pPr>
            <a:endParaRPr lang="en-US" sz="1900" b="1" dirty="0"/>
          </a:p>
          <a:p>
            <a:pPr algn="ctr">
              <a:spcBef>
                <a:spcPct val="20000"/>
              </a:spcBef>
              <a:defRPr/>
            </a:pPr>
            <a:r>
              <a:rPr lang="en-US" sz="1900" b="1" dirty="0"/>
              <a:t>       Group No : 40  </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dirty="0">
              <a:solidFill>
                <a:srgbClr val="C00000"/>
              </a:solidFill>
            </a:endParaRPr>
          </a:p>
          <a:p>
            <a:pPr algn="ctr">
              <a:spcBef>
                <a:spcPct val="20000"/>
              </a:spcBef>
              <a:defRPr/>
            </a:pPr>
            <a:endParaRPr lang="en-US" sz="2500" dirty="0">
              <a:solidFill>
                <a:schemeClr val="tx1">
                  <a:tint val="75000"/>
                </a:schemeClr>
              </a:solidFill>
            </a:endParaRPr>
          </a:p>
          <a:p>
            <a:pPr algn="ctr">
              <a:spcBef>
                <a:spcPct val="20000"/>
              </a:spcBef>
              <a:defRPr/>
            </a:pPr>
            <a:endParaRPr lang="en-US" sz="2700" dirty="0">
              <a:solidFill>
                <a:schemeClr val="tx1">
                  <a:tint val="75000"/>
                </a:schemeClr>
              </a:solidFill>
            </a:endParaRPr>
          </a:p>
        </p:txBody>
      </p:sp>
      <p:sp>
        <p:nvSpPr>
          <p:cNvPr id="8" name="Subtitle 2"/>
          <p:cNvSpPr txBox="1">
            <a:spLocks/>
          </p:cNvSpPr>
          <p:nvPr/>
        </p:nvSpPr>
        <p:spPr>
          <a:xfrm>
            <a:off x="3276600" y="6477000"/>
            <a:ext cx="3962400" cy="609600"/>
          </a:xfrm>
          <a:prstGeom prst="rect">
            <a:avLst/>
          </a:prstGeom>
        </p:spPr>
        <p:txBody>
          <a:bodyPr vert="horz" lIns="104493" tIns="52247" rIns="104493" bIns="52247" rtlCol="0">
            <a:normAutofit/>
          </a:bodyPr>
          <a:lstStyle/>
          <a:p>
            <a:pPr algn="ctr">
              <a:spcBef>
                <a:spcPct val="20000"/>
              </a:spcBef>
              <a:defRPr/>
            </a:pPr>
            <a:r>
              <a:rPr lang="en-US" sz="2700" dirty="0">
                <a:solidFill>
                  <a:srgbClr val="C00000"/>
                </a:solidFill>
                <a:latin typeface="Times New Roman" panose="02020603050405020304" pitchFamily="18" charset="0"/>
                <a:cs typeface="Times New Roman" panose="02020603050405020304" pitchFamily="18" charset="0"/>
              </a:rPr>
              <a:t> 2023-2024</a:t>
            </a:r>
          </a:p>
          <a:p>
            <a:pPr algn="ctr">
              <a:spcBef>
                <a:spcPct val="20000"/>
              </a:spcBef>
              <a:defRPr/>
            </a:pPr>
            <a:endParaRPr lang="en-US" sz="2700" dirty="0">
              <a:solidFill>
                <a:schemeClr val="tx1">
                  <a:tint val="75000"/>
                </a:schemeClr>
              </a:solidFill>
            </a:endParaRPr>
          </a:p>
        </p:txBody>
      </p:sp>
      <p:sp>
        <p:nvSpPr>
          <p:cNvPr id="11" name="TextBox 10">
            <a:extLst>
              <a:ext uri="{FF2B5EF4-FFF2-40B4-BE49-F238E27FC236}">
                <a16:creationId xmlns:a16="http://schemas.microsoft.com/office/drawing/2014/main" id="{CD8673C4-D35D-41FA-BEC1-EC3CC855AA18}"/>
              </a:ext>
            </a:extLst>
          </p:cNvPr>
          <p:cNvSpPr txBox="1"/>
          <p:nvPr/>
        </p:nvSpPr>
        <p:spPr>
          <a:xfrm>
            <a:off x="-310816" y="5486398"/>
            <a:ext cx="10972800" cy="738664"/>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Under Guidance of </a:t>
            </a:r>
          </a:p>
          <a:p>
            <a:pPr algn="ctr"/>
            <a:r>
              <a:rPr lang="en-US" sz="1800" b="1" dirty="0">
                <a:effectLst/>
                <a:latin typeface="Arial" panose="020B0604020202020204" pitchFamily="34" charset="0"/>
                <a:ea typeface="Calibri" panose="020F0502020204030204" pitchFamily="34" charset="0"/>
                <a:cs typeface="Arial" panose="020B0604020202020204" pitchFamily="34" charset="0"/>
              </a:rPr>
              <a:t>Prof. </a:t>
            </a:r>
            <a:r>
              <a:rPr lang="en-US" sz="1800" b="1" dirty="0" err="1">
                <a:effectLst/>
                <a:latin typeface="Arial" panose="020B0604020202020204" pitchFamily="34" charset="0"/>
                <a:ea typeface="Calibri" panose="020F0502020204030204" pitchFamily="34" charset="0"/>
                <a:cs typeface="Arial" panose="020B0604020202020204" pitchFamily="34" charset="0"/>
              </a:rPr>
              <a:t>R.S.Meshram</a:t>
            </a:r>
            <a:endParaRPr lang="en-IN" sz="1800" dirty="0">
              <a:effectLst/>
              <a:latin typeface="Arial" panose="020B060402020202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13435"/>
            <a:ext cx="9875520" cy="1219200"/>
          </a:xfrm>
        </p:spPr>
        <p:style>
          <a:lnRef idx="3">
            <a:schemeClr val="lt1"/>
          </a:lnRef>
          <a:fillRef idx="1">
            <a:schemeClr val="accent1"/>
          </a:fillRef>
          <a:effectRef idx="1">
            <a:schemeClr val="accent1"/>
          </a:effectRef>
          <a:fontRef idx="minor">
            <a:schemeClr val="lt1"/>
          </a:fontRef>
        </p:style>
        <p:txBody>
          <a:bodyPr/>
          <a:lstStyle/>
          <a:p>
            <a:r>
              <a:rPr lang="en-US" dirty="0"/>
              <a:t>  Contents</a:t>
            </a:r>
          </a:p>
        </p:txBody>
      </p:sp>
      <p:sp>
        <p:nvSpPr>
          <p:cNvPr id="3" name="Content Placeholder 2"/>
          <p:cNvSpPr>
            <a:spLocks noGrp="1"/>
          </p:cNvSpPr>
          <p:nvPr>
            <p:ph idx="1"/>
          </p:nvPr>
        </p:nvSpPr>
        <p:spPr>
          <a:xfrm>
            <a:off x="548640" y="1706880"/>
            <a:ext cx="9875520" cy="5073224"/>
          </a:xfrm>
        </p:spPr>
        <p:txBody>
          <a:bodyPr numCol="2">
            <a:noAutofit/>
          </a:bodyPr>
          <a:lstStyle/>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Introduction</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Motivation</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Problem Definition          </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Literature Survey</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Software Requirements Specification</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Hardware Requirements Specification</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Project Scope </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Project Timeline chart.</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Assumptions and Dependencies</a:t>
            </a:r>
          </a:p>
          <a:p>
            <a:pPr marL="457200" lvl="0" indent="-457200">
              <a:buFont typeface="+mj-lt"/>
              <a:buAutoNum type="arabicPeriod"/>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buFont typeface="+mj-lt"/>
              <a:buAutoNum type="arabicPeriod"/>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Architecture</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Mathematical model</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Algorithms</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Data Flow Diagram Level-0</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DFD Level-1</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DFD Level-2</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UML Diagrams</a:t>
            </a:r>
          </a:p>
          <a:p>
            <a:pPr marL="457200" lvl="0" indent="-457200">
              <a:buFont typeface="+mj-lt"/>
              <a:buAutoNum type="arabicPeriod"/>
            </a:pPr>
            <a:r>
              <a:rPr lang="en-US" sz="2000" dirty="0">
                <a:latin typeface="Times New Roman" panose="02020603050405020304" pitchFamily="18" charset="0"/>
                <a:ea typeface="Calibri" panose="020F0502020204030204" pitchFamily="34" charset="0"/>
                <a:cs typeface="Times New Roman" panose="02020603050405020304" pitchFamily="18" charset="0"/>
              </a:rPr>
              <a:t>Survey Paper</a:t>
            </a:r>
            <a:endParaRPr lang="en-US" sz="2000" dirty="0"/>
          </a:p>
          <a:p>
            <a:pPr marL="0" indent="0">
              <a:buNone/>
            </a:pPr>
            <a:endParaRPr lang="en-US" sz="2400" dirty="0"/>
          </a:p>
        </p:txBody>
      </p:sp>
      <p:sp>
        <p:nvSpPr>
          <p:cNvPr id="5" name="Slide Number Placeholder 4"/>
          <p:cNvSpPr>
            <a:spLocks noGrp="1"/>
          </p:cNvSpPr>
          <p:nvPr>
            <p:ph type="sldNum" sz="quarter" idx="12"/>
          </p:nvPr>
        </p:nvSpPr>
        <p:spPr/>
        <p:txBody>
          <a:bodyPr/>
          <a:lstStyle/>
          <a:p>
            <a:r>
              <a:rPr lang="en-US" dirty="0"/>
              <a:t>1</a:t>
            </a:r>
          </a:p>
        </p:txBody>
      </p:sp>
      <p:sp>
        <p:nvSpPr>
          <p:cNvPr id="7" name="Footer Placeholder 3"/>
          <p:cNvSpPr txBox="1">
            <a:spLocks/>
          </p:cNvSpPr>
          <p:nvPr/>
        </p:nvSpPr>
        <p:spPr>
          <a:xfrm>
            <a:off x="838200" y="6780107"/>
            <a:ext cx="9753600" cy="389467"/>
          </a:xfrm>
          <a:prstGeom prst="rect">
            <a:avLst/>
          </a:prstGeom>
        </p:spPr>
        <p:txBody>
          <a:bodyPr vert="horz" lIns="104493" tIns="52247" rIns="104493" bIns="52247" rtlCol="0" anchor="ctr"/>
          <a:lstStyle>
            <a:defPPr>
              <a:defRPr lang="en-US"/>
            </a:defPPr>
            <a:lvl1pPr marL="0" algn="ctr" defTabSz="1044924" rtl="0" eaLnBrk="1" latinLnBrk="0" hangingPunct="1">
              <a:defRPr sz="1400" kern="1200">
                <a:solidFill>
                  <a:schemeClr val="tx1">
                    <a:tint val="75000"/>
                  </a:schemeClr>
                </a:solidFill>
                <a:latin typeface="+mn-lt"/>
                <a:ea typeface="+mn-ea"/>
                <a:cs typeface="+mn-cs"/>
              </a:defRPr>
            </a:lvl1pPr>
            <a:lvl2pPr marL="522462" algn="l" defTabSz="1044924" rtl="0" eaLnBrk="1" latinLnBrk="0" hangingPunct="1">
              <a:defRPr sz="2100" kern="1200">
                <a:solidFill>
                  <a:schemeClr val="tx1"/>
                </a:solidFill>
                <a:latin typeface="+mn-lt"/>
                <a:ea typeface="+mn-ea"/>
                <a:cs typeface="+mn-cs"/>
              </a:defRPr>
            </a:lvl2pPr>
            <a:lvl3pPr marL="1044924" algn="l" defTabSz="1044924" rtl="0" eaLnBrk="1" latinLnBrk="0" hangingPunct="1">
              <a:defRPr sz="2100" kern="1200">
                <a:solidFill>
                  <a:schemeClr val="tx1"/>
                </a:solidFill>
                <a:latin typeface="+mn-lt"/>
                <a:ea typeface="+mn-ea"/>
                <a:cs typeface="+mn-cs"/>
              </a:defRPr>
            </a:lvl3pPr>
            <a:lvl4pPr marL="1567386" algn="l" defTabSz="1044924" rtl="0" eaLnBrk="1" latinLnBrk="0" hangingPunct="1">
              <a:defRPr sz="2100" kern="1200">
                <a:solidFill>
                  <a:schemeClr val="tx1"/>
                </a:solidFill>
                <a:latin typeface="+mn-lt"/>
                <a:ea typeface="+mn-ea"/>
                <a:cs typeface="+mn-cs"/>
              </a:defRPr>
            </a:lvl4pPr>
            <a:lvl5pPr marL="2089849" algn="l" defTabSz="1044924" rtl="0" eaLnBrk="1" latinLnBrk="0" hangingPunct="1">
              <a:defRPr sz="2100" kern="1200">
                <a:solidFill>
                  <a:schemeClr val="tx1"/>
                </a:solidFill>
                <a:latin typeface="+mn-lt"/>
                <a:ea typeface="+mn-ea"/>
                <a:cs typeface="+mn-cs"/>
              </a:defRPr>
            </a:lvl5pPr>
            <a:lvl6pPr marL="2612311" algn="l" defTabSz="1044924" rtl="0" eaLnBrk="1" latinLnBrk="0" hangingPunct="1">
              <a:defRPr sz="2100" kern="1200">
                <a:solidFill>
                  <a:schemeClr val="tx1"/>
                </a:solidFill>
                <a:latin typeface="+mn-lt"/>
                <a:ea typeface="+mn-ea"/>
                <a:cs typeface="+mn-cs"/>
              </a:defRPr>
            </a:lvl6pPr>
            <a:lvl7pPr marL="3134772" algn="l" defTabSz="1044924" rtl="0" eaLnBrk="1" latinLnBrk="0" hangingPunct="1">
              <a:defRPr sz="2100" kern="1200">
                <a:solidFill>
                  <a:schemeClr val="tx1"/>
                </a:solidFill>
                <a:latin typeface="+mn-lt"/>
                <a:ea typeface="+mn-ea"/>
                <a:cs typeface="+mn-cs"/>
              </a:defRPr>
            </a:lvl7pPr>
            <a:lvl8pPr marL="3657234" algn="l" defTabSz="1044924" rtl="0" eaLnBrk="1" latinLnBrk="0" hangingPunct="1">
              <a:defRPr sz="2100" kern="1200">
                <a:solidFill>
                  <a:schemeClr val="tx1"/>
                </a:solidFill>
                <a:latin typeface="+mn-lt"/>
                <a:ea typeface="+mn-ea"/>
                <a:cs typeface="+mn-cs"/>
              </a:defRPr>
            </a:lvl8pPr>
            <a:lvl9pPr marL="4179696" algn="l" defTabSz="1044924" rtl="0" eaLnBrk="1" latinLnBrk="0" hangingPunct="1">
              <a:defRPr sz="2100" kern="1200">
                <a:solidFill>
                  <a:schemeClr val="tx1"/>
                </a:solidFill>
                <a:latin typeface="+mn-lt"/>
                <a:ea typeface="+mn-ea"/>
                <a:cs typeface="+mn-cs"/>
              </a:defRPr>
            </a:lvl9pPr>
          </a:lstStyle>
          <a:p>
            <a:r>
              <a:rPr lang="en-IN" sz="1400" dirty="0">
                <a:solidFill>
                  <a:schemeClr val="tx1"/>
                </a:solidFill>
                <a:latin typeface="Times New Roman" pitchFamily="18" charset="0"/>
                <a:cs typeface="Times New Roman" pitchFamily="18" charset="0"/>
              </a:rPr>
              <a:t>Detection of Lane and Speed Breaker Warning System for  Autono</a:t>
            </a:r>
            <a:r>
              <a:rPr lang="en-IN" sz="1400" dirty="0">
                <a:latin typeface="Times New Roman" pitchFamily="18" charset="0"/>
                <a:cs typeface="Times New Roman" pitchFamily="18" charset="0"/>
              </a:rPr>
              <a:t>mous</a:t>
            </a:r>
            <a:r>
              <a:rPr lang="en-IN" sz="1400" dirty="0">
                <a:solidFill>
                  <a:schemeClr val="tx1"/>
                </a:solidFill>
                <a:latin typeface="Times New Roman" pitchFamily="18" charset="0"/>
                <a:cs typeface="Times New Roman" pitchFamily="18" charset="0"/>
              </a:rPr>
              <a:t> Vehicles using Machine Learning Algorithm</a:t>
            </a:r>
            <a:endParaRPr lang="en-US" dirty="0">
              <a:solidFill>
                <a:schemeClr val="bg1">
                  <a:lumMod val="50000"/>
                </a:schemeClr>
              </a:solidFill>
            </a:endParaRPr>
          </a:p>
        </p:txBody>
      </p:sp>
      <p:sp>
        <p:nvSpPr>
          <p:cNvPr id="8" name="Footer Placeholder 3"/>
          <p:cNvSpPr txBox="1">
            <a:spLocks/>
          </p:cNvSpPr>
          <p:nvPr/>
        </p:nvSpPr>
        <p:spPr>
          <a:xfrm>
            <a:off x="7505700" y="6780106"/>
            <a:ext cx="3276600" cy="389467"/>
          </a:xfrm>
          <a:prstGeom prst="rect">
            <a:avLst/>
          </a:prstGeom>
        </p:spPr>
        <p:txBody>
          <a:bodyPr vert="horz" lIns="104493" tIns="52247" rIns="104493" bIns="52247" rtlCol="0" anchor="ctr"/>
          <a:lstStyle>
            <a:defPPr>
              <a:defRPr lang="en-US"/>
            </a:defPPr>
            <a:lvl1pPr marL="0" algn="ctr" defTabSz="1044924" rtl="0" eaLnBrk="1" latinLnBrk="0" hangingPunct="1">
              <a:defRPr sz="1400" kern="1200">
                <a:solidFill>
                  <a:schemeClr val="tx1">
                    <a:tint val="75000"/>
                  </a:schemeClr>
                </a:solidFill>
                <a:latin typeface="+mn-lt"/>
                <a:ea typeface="+mn-ea"/>
                <a:cs typeface="+mn-cs"/>
              </a:defRPr>
            </a:lvl1pPr>
            <a:lvl2pPr marL="522462" algn="l" defTabSz="1044924" rtl="0" eaLnBrk="1" latinLnBrk="0" hangingPunct="1">
              <a:defRPr sz="2100" kern="1200">
                <a:solidFill>
                  <a:schemeClr val="tx1"/>
                </a:solidFill>
                <a:latin typeface="+mn-lt"/>
                <a:ea typeface="+mn-ea"/>
                <a:cs typeface="+mn-cs"/>
              </a:defRPr>
            </a:lvl2pPr>
            <a:lvl3pPr marL="1044924" algn="l" defTabSz="1044924" rtl="0" eaLnBrk="1" latinLnBrk="0" hangingPunct="1">
              <a:defRPr sz="2100" kern="1200">
                <a:solidFill>
                  <a:schemeClr val="tx1"/>
                </a:solidFill>
                <a:latin typeface="+mn-lt"/>
                <a:ea typeface="+mn-ea"/>
                <a:cs typeface="+mn-cs"/>
              </a:defRPr>
            </a:lvl3pPr>
            <a:lvl4pPr marL="1567386" algn="l" defTabSz="1044924" rtl="0" eaLnBrk="1" latinLnBrk="0" hangingPunct="1">
              <a:defRPr sz="2100" kern="1200">
                <a:solidFill>
                  <a:schemeClr val="tx1"/>
                </a:solidFill>
                <a:latin typeface="+mn-lt"/>
                <a:ea typeface="+mn-ea"/>
                <a:cs typeface="+mn-cs"/>
              </a:defRPr>
            </a:lvl4pPr>
            <a:lvl5pPr marL="2089849" algn="l" defTabSz="1044924" rtl="0" eaLnBrk="1" latinLnBrk="0" hangingPunct="1">
              <a:defRPr sz="2100" kern="1200">
                <a:solidFill>
                  <a:schemeClr val="tx1"/>
                </a:solidFill>
                <a:latin typeface="+mn-lt"/>
                <a:ea typeface="+mn-ea"/>
                <a:cs typeface="+mn-cs"/>
              </a:defRPr>
            </a:lvl5pPr>
            <a:lvl6pPr marL="2612311" algn="l" defTabSz="1044924" rtl="0" eaLnBrk="1" latinLnBrk="0" hangingPunct="1">
              <a:defRPr sz="2100" kern="1200">
                <a:solidFill>
                  <a:schemeClr val="tx1"/>
                </a:solidFill>
                <a:latin typeface="+mn-lt"/>
                <a:ea typeface="+mn-ea"/>
                <a:cs typeface="+mn-cs"/>
              </a:defRPr>
            </a:lvl6pPr>
            <a:lvl7pPr marL="3134772" algn="l" defTabSz="1044924" rtl="0" eaLnBrk="1" latinLnBrk="0" hangingPunct="1">
              <a:defRPr sz="2100" kern="1200">
                <a:solidFill>
                  <a:schemeClr val="tx1"/>
                </a:solidFill>
                <a:latin typeface="+mn-lt"/>
                <a:ea typeface="+mn-ea"/>
                <a:cs typeface="+mn-cs"/>
              </a:defRPr>
            </a:lvl7pPr>
            <a:lvl8pPr marL="3657234" algn="l" defTabSz="1044924" rtl="0" eaLnBrk="1" latinLnBrk="0" hangingPunct="1">
              <a:defRPr sz="2100" kern="1200">
                <a:solidFill>
                  <a:schemeClr val="tx1"/>
                </a:solidFill>
                <a:latin typeface="+mn-lt"/>
                <a:ea typeface="+mn-ea"/>
                <a:cs typeface="+mn-cs"/>
              </a:defRPr>
            </a:lvl8pPr>
            <a:lvl9pPr marL="4179696" algn="l" defTabSz="1044924" rtl="0" eaLnBrk="1" latinLnBrk="0" hangingPunct="1">
              <a:defRPr sz="2100" kern="1200">
                <a:solidFill>
                  <a:schemeClr val="tx1"/>
                </a:solidFill>
                <a:latin typeface="+mn-lt"/>
                <a:ea typeface="+mn-ea"/>
                <a:cs typeface="+mn-cs"/>
              </a:defRPr>
            </a:lvl9pPr>
          </a:lstStyle>
          <a:p>
            <a:r>
              <a:rPr lang="en-US" dirty="0">
                <a:solidFill>
                  <a:schemeClr val="bg1">
                    <a:lumMod val="50000"/>
                  </a:schemeClr>
                </a:solidFill>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3F0D5BD-0BEB-948E-B7FC-CD12804280FB}"/>
              </a:ext>
            </a:extLst>
          </p:cNvPr>
          <p:cNvSpPr>
            <a:spLocks noGrp="1"/>
          </p:cNvSpPr>
          <p:nvPr>
            <p:ph type="sldNum" sz="quarter" idx="12"/>
          </p:nvPr>
        </p:nvSpPr>
        <p:spPr/>
        <p:txBody>
          <a:bodyPr/>
          <a:lstStyle/>
          <a:p>
            <a:fld id="{B6F15528-21DE-4FAA-801E-634DDDAF4B2B}" type="slidenum">
              <a:rPr lang="en-US" smtClean="0"/>
              <a:pPr/>
              <a:t>3</a:t>
            </a:fld>
            <a:endParaRPr lang="en-US" dirty="0"/>
          </a:p>
        </p:txBody>
      </p:sp>
      <p:sp>
        <p:nvSpPr>
          <p:cNvPr id="6" name="Title 1">
            <a:extLst>
              <a:ext uri="{FF2B5EF4-FFF2-40B4-BE49-F238E27FC236}">
                <a16:creationId xmlns:a16="http://schemas.microsoft.com/office/drawing/2014/main" id="{BA417A9B-FE61-5EC5-80CC-2E1B857B7909}"/>
              </a:ext>
            </a:extLst>
          </p:cNvPr>
          <p:cNvSpPr>
            <a:spLocks noGrp="1"/>
          </p:cNvSpPr>
          <p:nvPr>
            <p:ph type="title"/>
          </p:nvPr>
        </p:nvSpPr>
        <p:spPr>
          <a:xfrm>
            <a:off x="549275" y="304800"/>
            <a:ext cx="9874250" cy="1219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dirty="0"/>
              <a:t> </a:t>
            </a:r>
            <a:br>
              <a:rPr lang="en-US" dirty="0"/>
            </a:br>
            <a:r>
              <a:rPr lang="en-US" sz="5400" b="1" dirty="0">
                <a:latin typeface="Times New Roman" panose="02020603050405020304" pitchFamily="18" charset="0"/>
                <a:ea typeface="Calibri" panose="020F0502020204030204" pitchFamily="34" charset="0"/>
                <a:cs typeface="Times New Roman" panose="02020603050405020304" pitchFamily="18" charset="0"/>
              </a:rPr>
              <a:t> Introduction</a:t>
            </a:r>
            <a:br>
              <a:rPr lang="en-IN" sz="5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9" name="TextBox 8">
            <a:extLst>
              <a:ext uri="{FF2B5EF4-FFF2-40B4-BE49-F238E27FC236}">
                <a16:creationId xmlns:a16="http://schemas.microsoft.com/office/drawing/2014/main" id="{76E4D9D6-2CE7-18D8-0DEA-E806BC22CAEC}"/>
              </a:ext>
            </a:extLst>
          </p:cNvPr>
          <p:cNvSpPr txBox="1"/>
          <p:nvPr/>
        </p:nvSpPr>
        <p:spPr>
          <a:xfrm>
            <a:off x="530537" y="1662415"/>
            <a:ext cx="9874250" cy="502855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recent years, social media platforms like Instagram have gained immense popularity, becoming integral parts of our daily lives. </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 the increasing user base, these platforms have also become hotbeds for various forms of online fraud and deception. </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of the prevalent issues on Instagram is the creation and proliferation of fake profiles, which can be used for malicious purposes such as identity theft, spreading misinformation, or conducting scams.</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ability to identify and classify these fake profiles is crucial for maintaining the integrity and security of the platform.</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Machine Learning (ML) and Artificial Intelligence (AI) techniques have shown great promise in addressing this issue by automating the process of fake profile detection and classification. </a:t>
            </a:r>
          </a:p>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research aims to develop an effective ML-based solution for identifying and categorizing fake Instagram profiles.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08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3F0D5BD-0BEB-948E-B7FC-CD12804280FB}"/>
              </a:ext>
            </a:extLst>
          </p:cNvPr>
          <p:cNvSpPr>
            <a:spLocks noGrp="1"/>
          </p:cNvSpPr>
          <p:nvPr>
            <p:ph type="sldNum" sz="quarter" idx="12"/>
          </p:nvPr>
        </p:nvSpPr>
        <p:spPr/>
        <p:txBody>
          <a:bodyPr/>
          <a:lstStyle/>
          <a:p>
            <a:fld id="{B6F15528-21DE-4FAA-801E-634DDDAF4B2B}" type="slidenum">
              <a:rPr lang="en-US" smtClean="0"/>
              <a:pPr/>
              <a:t>4</a:t>
            </a:fld>
            <a:endParaRPr lang="en-US" dirty="0"/>
          </a:p>
        </p:txBody>
      </p:sp>
      <p:sp>
        <p:nvSpPr>
          <p:cNvPr id="6" name="Title 1">
            <a:extLst>
              <a:ext uri="{FF2B5EF4-FFF2-40B4-BE49-F238E27FC236}">
                <a16:creationId xmlns:a16="http://schemas.microsoft.com/office/drawing/2014/main" id="{BA417A9B-FE61-5EC5-80CC-2E1B857B7909}"/>
              </a:ext>
            </a:extLst>
          </p:cNvPr>
          <p:cNvSpPr>
            <a:spLocks noGrp="1"/>
          </p:cNvSpPr>
          <p:nvPr>
            <p:ph type="title"/>
          </p:nvPr>
        </p:nvSpPr>
        <p:spPr>
          <a:xfrm>
            <a:off x="549275" y="171026"/>
            <a:ext cx="9874250" cy="12192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US" dirty="0"/>
              <a:t> </a:t>
            </a:r>
            <a:br>
              <a:rPr lang="en-US" dirty="0"/>
            </a:br>
            <a:r>
              <a:rPr lang="en-US" sz="5400" b="1" dirty="0">
                <a:latin typeface="Times New Roman" panose="02020603050405020304" pitchFamily="18" charset="0"/>
                <a:ea typeface="Calibri" panose="020F0502020204030204" pitchFamily="34" charset="0"/>
                <a:cs typeface="Times New Roman" panose="02020603050405020304" pitchFamily="18" charset="0"/>
              </a:rPr>
              <a:t> </a:t>
            </a:r>
            <a:r>
              <a:rPr lang="en-US" sz="4900" b="1" dirty="0">
                <a:latin typeface="Times New Roman" panose="02020603050405020304" pitchFamily="18" charset="0"/>
                <a:ea typeface="Calibri" panose="020F0502020204030204" pitchFamily="34" charset="0"/>
                <a:cs typeface="Times New Roman" panose="02020603050405020304" pitchFamily="18" charset="0"/>
              </a:rPr>
              <a:t>Motivation</a:t>
            </a:r>
            <a:br>
              <a:rPr lang="en-IN" sz="5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2" name="Rectangle 1">
            <a:extLst>
              <a:ext uri="{FF2B5EF4-FFF2-40B4-BE49-F238E27FC236}">
                <a16:creationId xmlns:a16="http://schemas.microsoft.com/office/drawing/2014/main" id="{8030C131-6152-6D29-F4FB-69B488314242}"/>
              </a:ext>
            </a:extLst>
          </p:cNvPr>
          <p:cNvSpPr>
            <a:spLocks noChangeArrowheads="1"/>
          </p:cNvSpPr>
          <p:nvPr/>
        </p:nvSpPr>
        <p:spPr bwMode="auto">
          <a:xfrm>
            <a:off x="914400" y="1905000"/>
            <a:ext cx="9144000" cy="307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growing need to protect Instagram users from various forms of online deception. Fake profiles can deceive individuals, compromise their personal information, and even manipulate public opinion. Detecting these profiles manually is a daunting task due to the sheer volume of users on the platform. Therefore, an automated approach using machine learning algorithms is not only efficient but also scalable.</a:t>
            </a:r>
          </a:p>
        </p:txBody>
      </p:sp>
    </p:spTree>
    <p:extLst>
      <p:ext uri="{BB962C8B-B14F-4D97-AF65-F5344CB8AC3E}">
        <p14:creationId xmlns:p14="http://schemas.microsoft.com/office/powerpoint/2010/main" val="1332937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3F0D5BD-0BEB-948E-B7FC-CD12804280FB}"/>
              </a:ext>
            </a:extLst>
          </p:cNvPr>
          <p:cNvSpPr>
            <a:spLocks noGrp="1"/>
          </p:cNvSpPr>
          <p:nvPr>
            <p:ph type="sldNum" sz="quarter" idx="12"/>
          </p:nvPr>
        </p:nvSpPr>
        <p:spPr/>
        <p:txBody>
          <a:bodyPr/>
          <a:lstStyle/>
          <a:p>
            <a:fld id="{B6F15528-21DE-4FAA-801E-634DDDAF4B2B}" type="slidenum">
              <a:rPr lang="en-US" smtClean="0"/>
              <a:pPr/>
              <a:t>5</a:t>
            </a:fld>
            <a:endParaRPr lang="en-US" dirty="0"/>
          </a:p>
        </p:txBody>
      </p:sp>
      <p:sp>
        <p:nvSpPr>
          <p:cNvPr id="6" name="Title 1">
            <a:extLst>
              <a:ext uri="{FF2B5EF4-FFF2-40B4-BE49-F238E27FC236}">
                <a16:creationId xmlns:a16="http://schemas.microsoft.com/office/drawing/2014/main" id="{BA417A9B-FE61-5EC5-80CC-2E1B857B7909}"/>
              </a:ext>
            </a:extLst>
          </p:cNvPr>
          <p:cNvSpPr>
            <a:spLocks noGrp="1"/>
          </p:cNvSpPr>
          <p:nvPr>
            <p:ph type="title"/>
          </p:nvPr>
        </p:nvSpPr>
        <p:spPr>
          <a:xfrm>
            <a:off x="549275" y="171026"/>
            <a:ext cx="9874250" cy="1219200"/>
          </a:xfrm>
        </p:spPr>
        <p:style>
          <a:lnRef idx="3">
            <a:schemeClr val="lt1"/>
          </a:lnRef>
          <a:fillRef idx="1">
            <a:schemeClr val="accent1"/>
          </a:fillRef>
          <a:effectRef idx="1">
            <a:schemeClr val="accent1"/>
          </a:effectRef>
          <a:fontRef idx="minor">
            <a:schemeClr val="lt1"/>
          </a:fontRef>
        </p:style>
        <p:txBody>
          <a:bodyPr>
            <a:noAutofit/>
          </a:bodyPr>
          <a:lstStyle/>
          <a:p>
            <a:r>
              <a:rPr lang="en-US" sz="4400" dirty="0"/>
              <a:t> </a:t>
            </a:r>
            <a:br>
              <a:rPr lang="en-US" sz="4400" dirty="0"/>
            </a:br>
            <a:r>
              <a:rPr lang="en-US" sz="4400" b="1" dirty="0">
                <a:latin typeface="Times New Roman" panose="02020603050405020304" pitchFamily="18" charset="0"/>
                <a:ea typeface="Calibri" panose="020F0502020204030204" pitchFamily="34" charset="0"/>
                <a:cs typeface="Times New Roman" panose="02020603050405020304" pitchFamily="18" charset="0"/>
              </a:rPr>
              <a:t> Problem Definition </a:t>
            </a:r>
            <a:br>
              <a:rPr lang="en-IN" sz="4400" dirty="0">
                <a:effectLst/>
                <a:latin typeface="Calibri" panose="020F0502020204030204" pitchFamily="34" charset="0"/>
                <a:ea typeface="Calibri" panose="020F0502020204030204" pitchFamily="34" charset="0"/>
                <a:cs typeface="Times New Roman" panose="02020603050405020304" pitchFamily="18" charset="0"/>
              </a:rPr>
            </a:br>
            <a:endParaRPr lang="en-US" sz="4400" dirty="0"/>
          </a:p>
        </p:txBody>
      </p:sp>
      <p:sp>
        <p:nvSpPr>
          <p:cNvPr id="3" name="TextBox 2">
            <a:extLst>
              <a:ext uri="{FF2B5EF4-FFF2-40B4-BE49-F238E27FC236}">
                <a16:creationId xmlns:a16="http://schemas.microsoft.com/office/drawing/2014/main" id="{00A21FE9-A68E-F23B-C04F-E4BD3A61EB40}"/>
              </a:ext>
            </a:extLst>
          </p:cNvPr>
          <p:cNvSpPr txBox="1"/>
          <p:nvPr/>
        </p:nvSpPr>
        <p:spPr>
          <a:xfrm>
            <a:off x="822960" y="1905000"/>
            <a:ext cx="9357055" cy="1555041"/>
          </a:xfrm>
          <a:prstGeom prst="rect">
            <a:avLst/>
          </a:prstGeom>
          <a:noFill/>
        </p:spPr>
        <p:txBody>
          <a:bodyPr wrap="square">
            <a:spAutoFit/>
          </a:bodyPr>
          <a:lstStyle/>
          <a:p>
            <a:pPr marL="90170" indent="-150495" algn="just">
              <a:lnSpc>
                <a:spcPct val="150000"/>
              </a:lnSpc>
              <a:tabLst>
                <a:tab pos="90170" algn="l"/>
              </a:tabLst>
            </a:pPr>
            <a:r>
              <a:rPr lang="en-US" sz="2200" dirty="0">
                <a:latin typeface="Times New Roman" pitchFamily="18" charset="0"/>
                <a:cs typeface="Times New Roman" pitchFamily="18" charset="0"/>
              </a:rPr>
              <a:t>To design a robust system that can automatically identify and categorize these</a:t>
            </a:r>
          </a:p>
          <a:p>
            <a:pPr marL="90170" indent="-150495" algn="just">
              <a:lnSpc>
                <a:spcPct val="150000"/>
              </a:lnSpc>
              <a:tabLst>
                <a:tab pos="90170" algn="l"/>
              </a:tabLst>
            </a:pPr>
            <a:r>
              <a:rPr lang="en-US" sz="2200" dirty="0">
                <a:latin typeface="Times New Roman" pitchFamily="18" charset="0"/>
                <a:cs typeface="Times New Roman" pitchFamily="18" charset="0"/>
              </a:rPr>
              <a:t>fake profiles, thereby enhancing the security and trustworthiness of the Instagram</a:t>
            </a:r>
          </a:p>
          <a:p>
            <a:pPr marL="90170" indent="-150495" algn="just">
              <a:lnSpc>
                <a:spcPct val="150000"/>
              </a:lnSpc>
              <a:tabLst>
                <a:tab pos="90170" algn="l"/>
              </a:tabLst>
            </a:pPr>
            <a:r>
              <a:rPr lang="en-US" sz="2200" dirty="0">
                <a:latin typeface="Times New Roman" pitchFamily="18" charset="0"/>
                <a:cs typeface="Times New Roman" pitchFamily="18" charset="0"/>
              </a:rPr>
              <a:t>platform.</a:t>
            </a:r>
            <a:endParaRPr lang="en-IN" sz="2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1908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7392F9-89B7-5024-CEB2-ADB6BB975D86}"/>
              </a:ext>
            </a:extLst>
          </p:cNvPr>
          <p:cNvSpPr txBox="1">
            <a:spLocks noGrp="1"/>
          </p:cNvSpPr>
          <p:nvPr>
            <p:ph type="title"/>
          </p:nvPr>
        </p:nvSpPr>
        <p:spPr>
          <a:xfrm>
            <a:off x="174171" y="74133"/>
            <a:ext cx="10581915" cy="1100192"/>
          </a:xfrm>
          <a:prstGeom prst="rect">
            <a:avLst/>
          </a:prstGeom>
        </p:spPr>
        <p:style>
          <a:lnRef idx="3">
            <a:schemeClr val="lt1"/>
          </a:lnRef>
          <a:fillRef idx="1">
            <a:schemeClr val="accent1"/>
          </a:fillRef>
          <a:effectRef idx="1">
            <a:schemeClr val="accent1"/>
          </a:effectRef>
          <a:fontRef idx="minor">
            <a:schemeClr val="lt1"/>
          </a:fontRef>
        </p:style>
        <p:txBody>
          <a:bodyPr vert="horz" lIns="104493" tIns="52247" rIns="104493" bIns="52247" rtlCol="0" anchor="ctr">
            <a:noAutofit/>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4000" b="1" dirty="0">
                <a:latin typeface="Times New Roman" panose="02020603050405020304" pitchFamily="18" charset="0"/>
                <a:ea typeface="Calibri" panose="020F0502020204030204" pitchFamily="34" charset="0"/>
                <a:cs typeface="Times New Roman" panose="02020603050405020304" pitchFamily="18" charset="0"/>
              </a:rPr>
              <a:t> Literature Survey </a:t>
            </a:r>
            <a:br>
              <a:rPr lang="en-IN" sz="4000" dirty="0">
                <a:effectLst/>
                <a:latin typeface="Calibri" panose="020F0502020204030204" pitchFamily="34" charset="0"/>
                <a:ea typeface="Calibri" panose="020F0502020204030204" pitchFamily="34" charset="0"/>
                <a:cs typeface="Times New Roman" panose="02020603050405020304" pitchFamily="18" charset="0"/>
              </a:rPr>
            </a:br>
            <a:endParaRPr lang="en-US" sz="4000" dirty="0"/>
          </a:p>
        </p:txBody>
      </p:sp>
      <p:sp>
        <p:nvSpPr>
          <p:cNvPr id="4" name="Footer Placeholder 3">
            <a:extLst>
              <a:ext uri="{FF2B5EF4-FFF2-40B4-BE49-F238E27FC236}">
                <a16:creationId xmlns:a16="http://schemas.microsoft.com/office/drawing/2014/main" id="{7CE75E80-68B6-6514-B620-C025614AC1B5}"/>
              </a:ext>
            </a:extLst>
          </p:cNvPr>
          <p:cNvSpPr>
            <a:spLocks noGrp="1"/>
          </p:cNvSpPr>
          <p:nvPr>
            <p:ph type="ftr" sz="quarter" idx="11"/>
          </p:nvPr>
        </p:nvSpPr>
        <p:spPr/>
        <p:txBody>
          <a:bodyPr/>
          <a:lstStyle/>
          <a:p>
            <a:r>
              <a:rPr lang="en-US" dirty="0"/>
              <a:t>Project Title Goes here</a:t>
            </a:r>
          </a:p>
        </p:txBody>
      </p:sp>
      <p:sp>
        <p:nvSpPr>
          <p:cNvPr id="5" name="Slide Number Placeholder 4">
            <a:extLst>
              <a:ext uri="{FF2B5EF4-FFF2-40B4-BE49-F238E27FC236}">
                <a16:creationId xmlns:a16="http://schemas.microsoft.com/office/drawing/2014/main" id="{38CBCA1F-181A-0EB0-C3DE-294F74B64F3F}"/>
              </a:ext>
            </a:extLst>
          </p:cNvPr>
          <p:cNvSpPr>
            <a:spLocks noGrp="1"/>
          </p:cNvSpPr>
          <p:nvPr>
            <p:ph type="sldNum" sz="quarter" idx="12"/>
          </p:nvPr>
        </p:nvSpPr>
        <p:spPr/>
        <p:txBody>
          <a:bodyPr/>
          <a:lstStyle/>
          <a:p>
            <a:fld id="{B6F15528-21DE-4FAA-801E-634DDDAF4B2B}" type="slidenum">
              <a:rPr lang="en-US" smtClean="0"/>
              <a:pPr/>
              <a:t>6</a:t>
            </a:fld>
            <a:endParaRPr lang="en-US" dirty="0"/>
          </a:p>
        </p:txBody>
      </p:sp>
      <p:graphicFrame>
        <p:nvGraphicFramePr>
          <p:cNvPr id="3" name="Table 2">
            <a:extLst>
              <a:ext uri="{FF2B5EF4-FFF2-40B4-BE49-F238E27FC236}">
                <a16:creationId xmlns:a16="http://schemas.microsoft.com/office/drawing/2014/main" id="{3E68D1B2-B849-66AA-1487-30F49F84F3EC}"/>
              </a:ext>
            </a:extLst>
          </p:cNvPr>
          <p:cNvGraphicFramePr>
            <a:graphicFrameLocks noGrp="1"/>
          </p:cNvGraphicFramePr>
          <p:nvPr>
            <p:extLst>
              <p:ext uri="{D42A27DB-BD31-4B8C-83A1-F6EECF244321}">
                <p14:modId xmlns:p14="http://schemas.microsoft.com/office/powerpoint/2010/main" val="3302360281"/>
              </p:ext>
            </p:extLst>
          </p:nvPr>
        </p:nvGraphicFramePr>
        <p:xfrm>
          <a:off x="228601" y="1371600"/>
          <a:ext cx="10527485" cy="5324457"/>
        </p:xfrm>
        <a:graphic>
          <a:graphicData uri="http://schemas.openxmlformats.org/drawingml/2006/table">
            <a:tbl>
              <a:tblPr firstRow="1" bandRow="1">
                <a:tableStyleId>{5C22544A-7EE6-4342-B048-85BDC9FD1C3A}</a:tableStyleId>
              </a:tblPr>
              <a:tblGrid>
                <a:gridCol w="478521">
                  <a:extLst>
                    <a:ext uri="{9D8B030D-6E8A-4147-A177-3AD203B41FA5}">
                      <a16:colId xmlns:a16="http://schemas.microsoft.com/office/drawing/2014/main" val="20000"/>
                    </a:ext>
                  </a:extLst>
                </a:gridCol>
                <a:gridCol w="2187530">
                  <a:extLst>
                    <a:ext uri="{9D8B030D-6E8A-4147-A177-3AD203B41FA5}">
                      <a16:colId xmlns:a16="http://schemas.microsoft.com/office/drawing/2014/main" val="20001"/>
                    </a:ext>
                  </a:extLst>
                </a:gridCol>
                <a:gridCol w="751963">
                  <a:extLst>
                    <a:ext uri="{9D8B030D-6E8A-4147-A177-3AD203B41FA5}">
                      <a16:colId xmlns:a16="http://schemas.microsoft.com/office/drawing/2014/main" val="20002"/>
                    </a:ext>
                  </a:extLst>
                </a:gridCol>
                <a:gridCol w="1093765">
                  <a:extLst>
                    <a:ext uri="{9D8B030D-6E8A-4147-A177-3AD203B41FA5}">
                      <a16:colId xmlns:a16="http://schemas.microsoft.com/office/drawing/2014/main" val="20003"/>
                    </a:ext>
                  </a:extLst>
                </a:gridCol>
                <a:gridCol w="2050809">
                  <a:extLst>
                    <a:ext uri="{9D8B030D-6E8A-4147-A177-3AD203B41FA5}">
                      <a16:colId xmlns:a16="http://schemas.microsoft.com/office/drawing/2014/main" val="20005"/>
                    </a:ext>
                  </a:extLst>
                </a:gridCol>
                <a:gridCol w="1845728">
                  <a:extLst>
                    <a:ext uri="{9D8B030D-6E8A-4147-A177-3AD203B41FA5}">
                      <a16:colId xmlns:a16="http://schemas.microsoft.com/office/drawing/2014/main" val="20006"/>
                    </a:ext>
                  </a:extLst>
                </a:gridCol>
                <a:gridCol w="2119169">
                  <a:extLst>
                    <a:ext uri="{9D8B030D-6E8A-4147-A177-3AD203B41FA5}">
                      <a16:colId xmlns:a16="http://schemas.microsoft.com/office/drawing/2014/main" val="20004"/>
                    </a:ext>
                  </a:extLst>
                </a:gridCol>
              </a:tblGrid>
              <a:tr h="412691">
                <a:tc>
                  <a:txBody>
                    <a:bodyPr/>
                    <a:lstStyle/>
                    <a:p>
                      <a:r>
                        <a:rPr lang="en-US" sz="1600" b="1" dirty="0">
                          <a:latin typeface="Times New Roman" pitchFamily="18" charset="0"/>
                          <a:cs typeface="Times New Roman" pitchFamily="18" charset="0"/>
                        </a:rPr>
                        <a:t>Sr. No.</a:t>
                      </a:r>
                    </a:p>
                  </a:txBody>
                  <a:tcPr/>
                </a:tc>
                <a:tc>
                  <a:txBody>
                    <a:bodyPr/>
                    <a:lstStyle/>
                    <a:p>
                      <a:r>
                        <a:rPr lang="en-US" sz="1600" b="1" dirty="0">
                          <a:latin typeface="Times New Roman" pitchFamily="18" charset="0"/>
                          <a:cs typeface="Times New Roman" pitchFamily="18" charset="0"/>
                        </a:rPr>
                        <a:t>Topic Name</a:t>
                      </a:r>
                    </a:p>
                  </a:txBody>
                  <a:tcPr/>
                </a:tc>
                <a:tc>
                  <a:txBody>
                    <a:bodyPr/>
                    <a:lstStyle/>
                    <a:p>
                      <a:r>
                        <a:rPr lang="en-US" sz="1600" b="1" dirty="0">
                          <a:latin typeface="Times New Roman" pitchFamily="18" charset="0"/>
                          <a:cs typeface="Times New Roman" pitchFamily="18" charset="0"/>
                        </a:rPr>
                        <a:t>Year</a:t>
                      </a:r>
                    </a:p>
                  </a:txBody>
                  <a:tcPr/>
                </a:tc>
                <a:tc>
                  <a:txBody>
                    <a:bodyPr/>
                    <a:lstStyle/>
                    <a:p>
                      <a:r>
                        <a:rPr lang="en-US" sz="1600" b="1" dirty="0">
                          <a:latin typeface="Times New Roman" pitchFamily="18" charset="0"/>
                          <a:cs typeface="Times New Roman" pitchFamily="18" charset="0"/>
                        </a:rPr>
                        <a:t>Author</a:t>
                      </a:r>
                      <a:r>
                        <a:rPr lang="en-US" sz="1600" b="1" baseline="0" dirty="0">
                          <a:latin typeface="Times New Roman" pitchFamily="18" charset="0"/>
                          <a:cs typeface="Times New Roman" pitchFamily="18" charset="0"/>
                        </a:rPr>
                        <a:t> </a:t>
                      </a:r>
                      <a:r>
                        <a:rPr lang="en-US" sz="1600" b="1" dirty="0">
                          <a:latin typeface="Times New Roman" pitchFamily="18" charset="0"/>
                          <a:cs typeface="Times New Roman" pitchFamily="18" charset="0"/>
                        </a:rPr>
                        <a:t>Name</a:t>
                      </a:r>
                    </a:p>
                  </a:txBody>
                  <a:tcPr/>
                </a:tc>
                <a:tc>
                  <a:txBody>
                    <a:bodyPr/>
                    <a:lstStyle/>
                    <a:p>
                      <a:r>
                        <a:rPr lang="en-US" sz="1600" b="1" dirty="0">
                          <a:latin typeface="Times New Roman" pitchFamily="18" charset="0"/>
                          <a:cs typeface="Times New Roman" pitchFamily="18" charset="0"/>
                        </a:rPr>
                        <a:t>Advantages</a:t>
                      </a:r>
                    </a:p>
                  </a:txBody>
                  <a:tcPr/>
                </a:tc>
                <a:tc>
                  <a:txBody>
                    <a:bodyPr/>
                    <a:lstStyle/>
                    <a:p>
                      <a:r>
                        <a:rPr lang="en-US" sz="1600" b="1" dirty="0">
                          <a:latin typeface="Times New Roman" pitchFamily="18" charset="0"/>
                          <a:cs typeface="Times New Roman" pitchFamily="18" charset="0"/>
                        </a:rPr>
                        <a:t>Disadvantages</a:t>
                      </a:r>
                    </a:p>
                  </a:txBody>
                  <a:tcPr/>
                </a:tc>
                <a:tc>
                  <a:txBody>
                    <a:bodyPr/>
                    <a:lstStyle/>
                    <a:p>
                      <a:r>
                        <a:rPr lang="en-US" sz="1600" b="1" dirty="0">
                          <a:latin typeface="Times New Roman" pitchFamily="18" charset="0"/>
                          <a:cs typeface="Times New Roman" pitchFamily="18" charset="0"/>
                        </a:rPr>
                        <a:t>Description</a:t>
                      </a:r>
                    </a:p>
                  </a:txBody>
                  <a:tcPr/>
                </a:tc>
                <a:extLst>
                  <a:ext uri="{0D108BD9-81ED-4DB2-BD59-A6C34878D82A}">
                    <a16:rowId xmlns:a16="http://schemas.microsoft.com/office/drawing/2014/main" val="10000"/>
                  </a:ext>
                </a:extLst>
              </a:tr>
              <a:tr h="1478280">
                <a:tc>
                  <a:txBody>
                    <a:bodyPr/>
                    <a:lstStyle/>
                    <a:p>
                      <a:r>
                        <a:rPr lang="en-US" sz="1600" dirty="0">
                          <a:latin typeface="Times New Roman" pitchFamily="18" charset="0"/>
                          <a:cs typeface="Times New Roman" pitchFamily="18" charset="0"/>
                        </a:rPr>
                        <a:t>1</a:t>
                      </a:r>
                    </a:p>
                  </a:txBody>
                  <a:tcPr/>
                </a:tc>
                <a:tc>
                  <a:txBody>
                    <a:bodyPr/>
                    <a:lstStyle/>
                    <a:p>
                      <a:r>
                        <a:rPr lang="en-US" sz="1600" dirty="0">
                          <a:latin typeface="Times New Roman" pitchFamily="18" charset="0"/>
                          <a:cs typeface="Times New Roman" pitchFamily="18" charset="0"/>
                        </a:rPr>
                        <a:t>Understanding the Digital Lives of Youth: Analyzing Media Shared within Safe Versus Unsafe Private Conversations on Instagram</a:t>
                      </a:r>
                    </a:p>
                  </a:txBody>
                  <a:tcPr/>
                </a:tc>
                <a:tc>
                  <a:txBody>
                    <a:bodyPr/>
                    <a:lstStyle/>
                    <a:p>
                      <a:r>
                        <a:rPr lang="en-US" sz="1600" dirty="0">
                          <a:latin typeface="Times New Roman" pitchFamily="18" charset="0"/>
                          <a:cs typeface="Times New Roman" pitchFamily="18" charset="0"/>
                        </a:rPr>
                        <a:t>2023</a:t>
                      </a:r>
                    </a:p>
                  </a:txBody>
                  <a:tcPr/>
                </a:tc>
                <a:tc>
                  <a:txBody>
                    <a:bodyPr/>
                    <a:lstStyle/>
                    <a:p>
                      <a:r>
                        <a:rPr lang="en-US" sz="1600" dirty="0" err="1">
                          <a:latin typeface="Times New Roman" pitchFamily="18" charset="0"/>
                          <a:cs typeface="Times New Roman" pitchFamily="18" charset="0"/>
                        </a:rPr>
                        <a:t>Shiza</a:t>
                      </a:r>
                      <a:r>
                        <a:rPr lang="en-US" sz="1600" dirty="0">
                          <a:latin typeface="Times New Roman" pitchFamily="18" charset="0"/>
                          <a:cs typeface="Times New Roman" pitchFamily="18" charset="0"/>
                        </a:rPr>
                        <a:t> Ali, </a:t>
                      </a:r>
                      <a:r>
                        <a:rPr lang="en-US" sz="1600" dirty="0" err="1">
                          <a:latin typeface="Times New Roman" pitchFamily="18" charset="0"/>
                          <a:cs typeface="Times New Roman" pitchFamily="18" charset="0"/>
                        </a:rPr>
                        <a:t>Afsaneh</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Razi</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Researchers and policymakers can use this information to develop targeted interventions</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Findings from this type of analysis may not be representative of all youth on Instagram.</a:t>
                      </a:r>
                      <a:endParaRPr lang="en-US" sz="1600" dirty="0">
                        <a:latin typeface="Times New Roman" pitchFamily="18" charset="0"/>
                        <a:cs typeface="Times New Roman" pitchFamily="18" charset="0"/>
                      </a:endParaRPr>
                    </a:p>
                  </a:txBody>
                  <a:tcPr/>
                </a:tc>
                <a:tc>
                  <a:txBody>
                    <a:bodyPr/>
                    <a:lstStyle/>
                    <a:p>
                      <a:r>
                        <a:rPr lang="en-US" sz="1600" dirty="0">
                          <a:latin typeface="Times New Roman" pitchFamily="18" charset="0"/>
                          <a:cs typeface="Times New Roman" pitchFamily="18" charset="0"/>
                        </a:rPr>
                        <a:t>We performed a mixed-method analysis of the media files shared privately in these conversations to gain human-centered insights into the risky interactions experienced by youth.</a:t>
                      </a:r>
                    </a:p>
                  </a:txBody>
                  <a:tcPr/>
                </a:tc>
                <a:extLst>
                  <a:ext uri="{0D108BD9-81ED-4DB2-BD59-A6C34878D82A}">
                    <a16:rowId xmlns:a16="http://schemas.microsoft.com/office/drawing/2014/main" val="10001"/>
                  </a:ext>
                </a:extLst>
              </a:tr>
              <a:tr h="2215497">
                <a:tc>
                  <a:txBody>
                    <a:bodyPr/>
                    <a:lstStyle/>
                    <a:p>
                      <a:r>
                        <a:rPr lang="en-US" sz="1600" dirty="0">
                          <a:latin typeface="Times New Roman" pitchFamily="18" charset="0"/>
                          <a:cs typeface="Times New Roman" pitchFamily="18" charset="0"/>
                        </a:rPr>
                        <a:t>2</a:t>
                      </a:r>
                    </a:p>
                  </a:txBody>
                  <a:tcPr/>
                </a:tc>
                <a:tc>
                  <a:txBody>
                    <a:bodyPr/>
                    <a:lstStyle/>
                    <a:p>
                      <a:r>
                        <a:rPr lang="en-US" sz="1600" dirty="0">
                          <a:latin typeface="Times New Roman" pitchFamily="18" charset="0"/>
                          <a:cs typeface="Times New Roman" pitchFamily="18" charset="0"/>
                        </a:rPr>
                        <a:t>Instagram Data Donation: A Case Study on Collecting Ecologically Valid Social Media Data for the Purpose of Adolescent Online Risk Detection</a:t>
                      </a:r>
                    </a:p>
                  </a:txBody>
                  <a:tcPr/>
                </a:tc>
                <a:tc>
                  <a:txBody>
                    <a:bodyPr/>
                    <a:lstStyle/>
                    <a:p>
                      <a:r>
                        <a:rPr lang="en-US" sz="1600" dirty="0">
                          <a:latin typeface="Times New Roman" pitchFamily="18" charset="0"/>
                          <a:cs typeface="Times New Roman" pitchFamily="18" charset="0"/>
                        </a:rPr>
                        <a:t>2022</a:t>
                      </a:r>
                    </a:p>
                  </a:txBody>
                  <a:tcPr/>
                </a:tc>
                <a:tc>
                  <a:txBody>
                    <a:bodyPr/>
                    <a:lstStyle/>
                    <a:p>
                      <a:r>
                        <a:rPr lang="en-US" sz="1600" dirty="0" err="1">
                          <a:latin typeface="Times New Roman" pitchFamily="18" charset="0"/>
                          <a:cs typeface="Times New Roman" pitchFamily="18" charset="0"/>
                        </a:rPr>
                        <a:t>Afsaneh</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Razi</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Ashwaq</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AlSoubai</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Over time, this data can be used to track changes in online behaviors, helping to identify trends.</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The evolving landscape of social media platform policies and regulations, which may limit data access and usage.</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The study aims to create a comprehensive understanding of the online behaviors, interactions, and content consumption patterns of adolescents on the platform. </a:t>
                      </a:r>
                      <a:endParaRPr lang="en-US" sz="16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66518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7392F9-89B7-5024-CEB2-ADB6BB975D86}"/>
              </a:ext>
            </a:extLst>
          </p:cNvPr>
          <p:cNvSpPr txBox="1">
            <a:spLocks noGrp="1"/>
          </p:cNvSpPr>
          <p:nvPr>
            <p:ph type="title"/>
          </p:nvPr>
        </p:nvSpPr>
        <p:spPr>
          <a:xfrm>
            <a:off x="174171" y="74133"/>
            <a:ext cx="10581915" cy="1100192"/>
          </a:xfrm>
          <a:prstGeom prst="rect">
            <a:avLst/>
          </a:prstGeom>
        </p:spPr>
        <p:style>
          <a:lnRef idx="3">
            <a:schemeClr val="lt1"/>
          </a:lnRef>
          <a:fillRef idx="1">
            <a:schemeClr val="accent1"/>
          </a:fillRef>
          <a:effectRef idx="1">
            <a:schemeClr val="accent1"/>
          </a:effectRef>
          <a:fontRef idx="minor">
            <a:schemeClr val="lt1"/>
          </a:fontRef>
        </p:style>
        <p:txBody>
          <a:bodyPr vert="horz" lIns="104493" tIns="52247" rIns="104493" bIns="52247" rtlCol="0" anchor="ctr">
            <a:noAutofit/>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4000" b="1" dirty="0">
                <a:latin typeface="Times New Roman" panose="02020603050405020304" pitchFamily="18" charset="0"/>
                <a:ea typeface="Calibri" panose="020F0502020204030204" pitchFamily="34" charset="0"/>
                <a:cs typeface="Times New Roman" panose="02020603050405020304" pitchFamily="18" charset="0"/>
              </a:rPr>
              <a:t> Literature Survey </a:t>
            </a:r>
            <a:br>
              <a:rPr lang="en-IN" sz="4000" dirty="0">
                <a:effectLst/>
                <a:latin typeface="Calibri" panose="020F0502020204030204" pitchFamily="34" charset="0"/>
                <a:ea typeface="Calibri" panose="020F0502020204030204" pitchFamily="34" charset="0"/>
                <a:cs typeface="Times New Roman" panose="02020603050405020304" pitchFamily="18" charset="0"/>
              </a:rPr>
            </a:br>
            <a:endParaRPr lang="en-US" sz="4000" dirty="0"/>
          </a:p>
        </p:txBody>
      </p:sp>
      <p:sp>
        <p:nvSpPr>
          <p:cNvPr id="4" name="Footer Placeholder 3">
            <a:extLst>
              <a:ext uri="{FF2B5EF4-FFF2-40B4-BE49-F238E27FC236}">
                <a16:creationId xmlns:a16="http://schemas.microsoft.com/office/drawing/2014/main" id="{7CE75E80-68B6-6514-B620-C025614AC1B5}"/>
              </a:ext>
            </a:extLst>
          </p:cNvPr>
          <p:cNvSpPr>
            <a:spLocks noGrp="1"/>
          </p:cNvSpPr>
          <p:nvPr>
            <p:ph type="ftr" sz="quarter" idx="11"/>
          </p:nvPr>
        </p:nvSpPr>
        <p:spPr/>
        <p:txBody>
          <a:bodyPr/>
          <a:lstStyle/>
          <a:p>
            <a:r>
              <a:rPr lang="en-US" dirty="0"/>
              <a:t>Project Title Goes here</a:t>
            </a:r>
          </a:p>
        </p:txBody>
      </p:sp>
      <p:sp>
        <p:nvSpPr>
          <p:cNvPr id="5" name="Slide Number Placeholder 4">
            <a:extLst>
              <a:ext uri="{FF2B5EF4-FFF2-40B4-BE49-F238E27FC236}">
                <a16:creationId xmlns:a16="http://schemas.microsoft.com/office/drawing/2014/main" id="{38CBCA1F-181A-0EB0-C3DE-294F74B64F3F}"/>
              </a:ext>
            </a:extLst>
          </p:cNvPr>
          <p:cNvSpPr>
            <a:spLocks noGrp="1"/>
          </p:cNvSpPr>
          <p:nvPr>
            <p:ph type="sldNum" sz="quarter" idx="12"/>
          </p:nvPr>
        </p:nvSpPr>
        <p:spPr/>
        <p:txBody>
          <a:bodyPr/>
          <a:lstStyle/>
          <a:p>
            <a:fld id="{B6F15528-21DE-4FAA-801E-634DDDAF4B2B}" type="slidenum">
              <a:rPr lang="en-US" smtClean="0"/>
              <a:pPr/>
              <a:t>7</a:t>
            </a:fld>
            <a:endParaRPr lang="en-US" dirty="0"/>
          </a:p>
        </p:txBody>
      </p:sp>
      <p:graphicFrame>
        <p:nvGraphicFramePr>
          <p:cNvPr id="2" name="Table 1">
            <a:extLst>
              <a:ext uri="{FF2B5EF4-FFF2-40B4-BE49-F238E27FC236}">
                <a16:creationId xmlns:a16="http://schemas.microsoft.com/office/drawing/2014/main" id="{56CDCAD0-E7A8-C5FC-DD4D-A46BA4BB508D}"/>
              </a:ext>
            </a:extLst>
          </p:cNvPr>
          <p:cNvGraphicFramePr>
            <a:graphicFrameLocks noGrp="1"/>
          </p:cNvGraphicFramePr>
          <p:nvPr>
            <p:extLst>
              <p:ext uri="{D42A27DB-BD31-4B8C-83A1-F6EECF244321}">
                <p14:modId xmlns:p14="http://schemas.microsoft.com/office/powerpoint/2010/main" val="2896901947"/>
              </p:ext>
            </p:extLst>
          </p:nvPr>
        </p:nvGraphicFramePr>
        <p:xfrm>
          <a:off x="216713" y="1325880"/>
          <a:ext cx="10539373" cy="5444631"/>
        </p:xfrm>
        <a:graphic>
          <a:graphicData uri="http://schemas.openxmlformats.org/drawingml/2006/table">
            <a:tbl>
              <a:tblPr firstRow="1" bandRow="1">
                <a:tableStyleId>{5C22544A-7EE6-4342-B048-85BDC9FD1C3A}</a:tableStyleId>
              </a:tblPr>
              <a:tblGrid>
                <a:gridCol w="469087">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750957">
                  <a:extLst>
                    <a:ext uri="{9D8B030D-6E8A-4147-A177-3AD203B41FA5}">
                      <a16:colId xmlns:a16="http://schemas.microsoft.com/office/drawing/2014/main" val="20002"/>
                    </a:ext>
                  </a:extLst>
                </a:gridCol>
                <a:gridCol w="1553882">
                  <a:extLst>
                    <a:ext uri="{9D8B030D-6E8A-4147-A177-3AD203B41FA5}">
                      <a16:colId xmlns:a16="http://schemas.microsoft.com/office/drawing/2014/main" val="20003"/>
                    </a:ext>
                  </a:extLst>
                </a:gridCol>
                <a:gridCol w="1959242">
                  <a:extLst>
                    <a:ext uri="{9D8B030D-6E8A-4147-A177-3AD203B41FA5}">
                      <a16:colId xmlns:a16="http://schemas.microsoft.com/office/drawing/2014/main" val="20005"/>
                    </a:ext>
                  </a:extLst>
                </a:gridCol>
                <a:gridCol w="1813988">
                  <a:extLst>
                    <a:ext uri="{9D8B030D-6E8A-4147-A177-3AD203B41FA5}">
                      <a16:colId xmlns:a16="http://schemas.microsoft.com/office/drawing/2014/main" val="20006"/>
                    </a:ext>
                  </a:extLst>
                </a:gridCol>
                <a:gridCol w="2239617">
                  <a:extLst>
                    <a:ext uri="{9D8B030D-6E8A-4147-A177-3AD203B41FA5}">
                      <a16:colId xmlns:a16="http://schemas.microsoft.com/office/drawing/2014/main" val="20004"/>
                    </a:ext>
                  </a:extLst>
                </a:gridCol>
              </a:tblGrid>
              <a:tr h="872631">
                <a:tc>
                  <a:txBody>
                    <a:bodyPr/>
                    <a:lstStyle/>
                    <a:p>
                      <a:r>
                        <a:rPr lang="en-US" sz="1600" b="1" dirty="0">
                          <a:latin typeface="Times New Roman" pitchFamily="18" charset="0"/>
                          <a:cs typeface="Times New Roman" pitchFamily="18" charset="0"/>
                        </a:rPr>
                        <a:t>Sr. No.</a:t>
                      </a:r>
                    </a:p>
                  </a:txBody>
                  <a:tcPr/>
                </a:tc>
                <a:tc>
                  <a:txBody>
                    <a:bodyPr/>
                    <a:lstStyle/>
                    <a:p>
                      <a:r>
                        <a:rPr lang="en-US" sz="1600" b="1" dirty="0">
                          <a:latin typeface="Times New Roman" pitchFamily="18" charset="0"/>
                          <a:cs typeface="Times New Roman" pitchFamily="18" charset="0"/>
                        </a:rPr>
                        <a:t>Topic Name</a:t>
                      </a:r>
                    </a:p>
                  </a:txBody>
                  <a:tcPr/>
                </a:tc>
                <a:tc>
                  <a:txBody>
                    <a:bodyPr/>
                    <a:lstStyle/>
                    <a:p>
                      <a:r>
                        <a:rPr lang="en-US" sz="1600" b="1" dirty="0">
                          <a:latin typeface="Times New Roman" pitchFamily="18" charset="0"/>
                          <a:cs typeface="Times New Roman" pitchFamily="18" charset="0"/>
                        </a:rPr>
                        <a:t>Year</a:t>
                      </a:r>
                    </a:p>
                  </a:txBody>
                  <a:tcPr/>
                </a:tc>
                <a:tc>
                  <a:txBody>
                    <a:bodyPr/>
                    <a:lstStyle/>
                    <a:p>
                      <a:r>
                        <a:rPr lang="en-US" sz="1600" b="1" dirty="0">
                          <a:latin typeface="Times New Roman" pitchFamily="18" charset="0"/>
                          <a:cs typeface="Times New Roman" pitchFamily="18" charset="0"/>
                        </a:rPr>
                        <a:t>Author</a:t>
                      </a:r>
                      <a:r>
                        <a:rPr lang="en-US" sz="1600" b="1" baseline="0" dirty="0">
                          <a:latin typeface="Times New Roman" pitchFamily="18" charset="0"/>
                          <a:cs typeface="Times New Roman" pitchFamily="18" charset="0"/>
                        </a:rPr>
                        <a:t> </a:t>
                      </a:r>
                      <a:r>
                        <a:rPr lang="en-US" sz="1600" b="1" dirty="0">
                          <a:latin typeface="Times New Roman" pitchFamily="18" charset="0"/>
                          <a:cs typeface="Times New Roman" pitchFamily="18" charset="0"/>
                        </a:rPr>
                        <a:t>Name</a:t>
                      </a:r>
                    </a:p>
                  </a:txBody>
                  <a:tcPr/>
                </a:tc>
                <a:tc>
                  <a:txBody>
                    <a:bodyPr/>
                    <a:lstStyle/>
                    <a:p>
                      <a:r>
                        <a:rPr lang="en-US" sz="1600" b="1" dirty="0">
                          <a:latin typeface="Times New Roman" pitchFamily="18" charset="0"/>
                          <a:cs typeface="Times New Roman" pitchFamily="18" charset="0"/>
                        </a:rPr>
                        <a:t>Advantages</a:t>
                      </a:r>
                    </a:p>
                  </a:txBody>
                  <a:tcPr/>
                </a:tc>
                <a:tc>
                  <a:txBody>
                    <a:bodyPr/>
                    <a:lstStyle/>
                    <a:p>
                      <a:r>
                        <a:rPr lang="en-US" sz="1600" b="1" dirty="0" err="1">
                          <a:latin typeface="Times New Roman" pitchFamily="18" charset="0"/>
                          <a:cs typeface="Times New Roman" pitchFamily="18" charset="0"/>
                        </a:rPr>
                        <a:t>Disdvantages</a:t>
                      </a:r>
                      <a:endParaRPr lang="en-US" sz="1600" b="1" dirty="0">
                        <a:latin typeface="Times New Roman" pitchFamily="18" charset="0"/>
                        <a:cs typeface="Times New Roman" pitchFamily="18" charset="0"/>
                      </a:endParaRPr>
                    </a:p>
                  </a:txBody>
                  <a:tcPr/>
                </a:tc>
                <a:tc>
                  <a:txBody>
                    <a:bodyPr/>
                    <a:lstStyle/>
                    <a:p>
                      <a:r>
                        <a:rPr lang="en-US" sz="1600" b="1" dirty="0">
                          <a:latin typeface="Times New Roman" pitchFamily="18" charset="0"/>
                          <a:cs typeface="Times New Roman" pitchFamily="18" charset="0"/>
                        </a:rPr>
                        <a:t>Description</a:t>
                      </a:r>
                    </a:p>
                  </a:txBody>
                  <a:tcPr/>
                </a:tc>
                <a:extLst>
                  <a:ext uri="{0D108BD9-81ED-4DB2-BD59-A6C34878D82A}">
                    <a16:rowId xmlns:a16="http://schemas.microsoft.com/office/drawing/2014/main" val="10000"/>
                  </a:ext>
                </a:extLst>
              </a:tr>
              <a:tr h="872631">
                <a:tc>
                  <a:txBody>
                    <a:bodyPr/>
                    <a:lstStyle/>
                    <a:p>
                      <a:r>
                        <a:rPr lang="en-US" sz="1600" dirty="0">
                          <a:latin typeface="Times New Roman" pitchFamily="18" charset="0"/>
                          <a:cs typeface="Times New Roman" pitchFamily="18" charset="0"/>
                        </a:rPr>
                        <a:t>3</a:t>
                      </a:r>
                    </a:p>
                  </a:txBody>
                  <a:tcPr/>
                </a:tc>
                <a:tc>
                  <a:txBody>
                    <a:bodyPr/>
                    <a:lstStyle/>
                    <a:p>
                      <a:r>
                        <a:rPr lang="en-US" sz="1600" dirty="0">
                          <a:latin typeface="Times New Roman" pitchFamily="18" charset="0"/>
                          <a:cs typeface="Times New Roman" pitchFamily="18" charset="0"/>
                        </a:rPr>
                        <a:t>Sliding into My DMs: Detecting Uncomfortable or Unsafe Sexual Risk Experiences within Instagram Direct Messages Grounded in the Perspective of Youth </a:t>
                      </a:r>
                    </a:p>
                  </a:txBody>
                  <a:tcPr/>
                </a:tc>
                <a:tc>
                  <a:txBody>
                    <a:bodyPr/>
                    <a:lstStyle/>
                    <a:p>
                      <a:r>
                        <a:rPr lang="en-US" sz="1600" dirty="0">
                          <a:latin typeface="Times New Roman" pitchFamily="18" charset="0"/>
                          <a:cs typeface="Times New Roman" pitchFamily="18" charset="0"/>
                        </a:rPr>
                        <a:t>2023</a:t>
                      </a:r>
                    </a:p>
                  </a:txBody>
                  <a:tcPr/>
                </a:tc>
                <a:tc>
                  <a:txBody>
                    <a:bodyPr/>
                    <a:lstStyle/>
                    <a:p>
                      <a:r>
                        <a:rPr lang="en-US" sz="1600" dirty="0">
                          <a:latin typeface="Times New Roman" pitchFamily="18" charset="0"/>
                          <a:cs typeface="Times New Roman" pitchFamily="18" charset="0"/>
                        </a:rPr>
                        <a:t>AFSANEH RAZI,  ASHWAQ ALSOUBAI</a:t>
                      </a: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Platforms like Instagram, understanding how youth engage in conversations .</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Research involving the analysis of private messages on a social media platform may raise ethical concerns related to privacy, consent.</a:t>
                      </a:r>
                      <a:endParaRPr lang="en-US" sz="1600" dirty="0">
                        <a:latin typeface="Times New Roman" pitchFamily="18" charset="0"/>
                        <a:cs typeface="Times New Roman" pitchFamily="18" charset="0"/>
                      </a:endParaRPr>
                    </a:p>
                  </a:txBody>
                  <a:tcPr/>
                </a:tc>
                <a:tc>
                  <a:txBody>
                    <a:bodyPr/>
                    <a:lstStyle/>
                    <a:p>
                      <a:r>
                        <a:rPr lang="en-US" sz="1600" dirty="0">
                          <a:latin typeface="Times New Roman" pitchFamily="18" charset="0"/>
                          <a:cs typeface="Times New Roman" pitchFamily="18" charset="0"/>
                        </a:rPr>
                        <a:t>Risk detection and adolescent online safety literature through our human-centered approach of collecting and ground truth coding private social media conversations of youth for the purpose of risk classification.</a:t>
                      </a:r>
                    </a:p>
                  </a:txBody>
                  <a:tcPr/>
                </a:tc>
                <a:extLst>
                  <a:ext uri="{0D108BD9-81ED-4DB2-BD59-A6C34878D82A}">
                    <a16:rowId xmlns:a16="http://schemas.microsoft.com/office/drawing/2014/main" val="10001"/>
                  </a:ext>
                </a:extLst>
              </a:tr>
              <a:tr h="872631">
                <a:tc>
                  <a:txBody>
                    <a:bodyPr/>
                    <a:lstStyle/>
                    <a:p>
                      <a:r>
                        <a:rPr lang="en-US" sz="1600" dirty="0">
                          <a:latin typeface="Times New Roman" pitchFamily="18" charset="0"/>
                          <a:cs typeface="Times New Roman" pitchFamily="18" charset="0"/>
                        </a:rPr>
                        <a:t>4</a:t>
                      </a:r>
                    </a:p>
                  </a:txBody>
                  <a:tcPr/>
                </a:tc>
                <a:tc>
                  <a:txBody>
                    <a:bodyPr/>
                    <a:lstStyle/>
                    <a:p>
                      <a:r>
                        <a:rPr lang="en-US" sz="1600" dirty="0">
                          <a:latin typeface="Times New Roman" pitchFamily="18" charset="0"/>
                          <a:cs typeface="Times New Roman" pitchFamily="18" charset="0"/>
                        </a:rPr>
                        <a:t>Happiness and Sadness in Adolescents’ Instagram Direct Messaging: A Neural Topic </a:t>
                      </a:r>
                      <a:r>
                        <a:rPr lang="en-US" sz="1600" dirty="0" err="1">
                          <a:latin typeface="Times New Roman" pitchFamily="18" charset="0"/>
                          <a:cs typeface="Times New Roman" pitchFamily="18" charset="0"/>
                        </a:rPr>
                        <a:t>Modelling</a:t>
                      </a:r>
                      <a:r>
                        <a:rPr lang="en-US" sz="1600" dirty="0">
                          <a:latin typeface="Times New Roman" pitchFamily="18" charset="0"/>
                          <a:cs typeface="Times New Roman" pitchFamily="18" charset="0"/>
                        </a:rPr>
                        <a:t> Approach</a:t>
                      </a:r>
                    </a:p>
                  </a:txBody>
                  <a:tcPr/>
                </a:tc>
                <a:tc>
                  <a:txBody>
                    <a:bodyPr/>
                    <a:lstStyle/>
                    <a:p>
                      <a:r>
                        <a:rPr lang="en-US" sz="1600" dirty="0">
                          <a:latin typeface="Times New Roman" pitchFamily="18" charset="0"/>
                          <a:cs typeface="Times New Roman" pitchFamily="18" charset="0"/>
                        </a:rPr>
                        <a:t>2022</a:t>
                      </a:r>
                    </a:p>
                  </a:txBody>
                  <a:tcPr/>
                </a:tc>
                <a:tc>
                  <a:txBody>
                    <a:bodyPr/>
                    <a:lstStyle/>
                    <a:p>
                      <a:r>
                        <a:rPr lang="en-US" sz="1600" dirty="0">
                          <a:latin typeface="Times New Roman" pitchFamily="18" charset="0"/>
                          <a:cs typeface="Times New Roman" pitchFamily="18" charset="0"/>
                        </a:rPr>
                        <a:t>Tim </a:t>
                      </a:r>
                      <a:r>
                        <a:rPr lang="en-US" sz="1600" dirty="0" err="1">
                          <a:latin typeface="Times New Roman" pitchFamily="18" charset="0"/>
                          <a:cs typeface="Times New Roman" pitchFamily="18" charset="0"/>
                        </a:rPr>
                        <a:t>Verbeij</a:t>
                      </a:r>
                      <a:r>
                        <a:rPr lang="en-US" sz="1600" dirty="0">
                          <a:latin typeface="Times New Roman" pitchFamily="18" charset="0"/>
                          <a:cs typeface="Times New Roman" pitchFamily="18" charset="0"/>
                        </a:rPr>
                        <a:t>* , </a:t>
                      </a:r>
                      <a:r>
                        <a:rPr lang="en-US" sz="1600" dirty="0" err="1">
                          <a:latin typeface="Times New Roman" pitchFamily="18" charset="0"/>
                          <a:cs typeface="Times New Roman" pitchFamily="18" charset="0"/>
                        </a:rPr>
                        <a:t>Ine</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Beyens</a:t>
                      </a:r>
                      <a:r>
                        <a:rPr lang="en-US" sz="1600" dirty="0">
                          <a:latin typeface="Times New Roman" pitchFamily="18" charset="0"/>
                          <a:cs typeface="Times New Roman" pitchFamily="18" charset="0"/>
                        </a:rPr>
                        <a:t>, Damian Trilling</a:t>
                      </a: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Neural topic modeling can process large volumes of text data quickly and efficiently.</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Analyzing private messages on social media platforms raises ethical concerns regarding privacy and consent.</a:t>
                      </a:r>
                      <a:endParaRPr lang="en-US" sz="1600" dirty="0">
                        <a:latin typeface="Times New Roman" pitchFamily="18" charset="0"/>
                        <a:cs typeface="Times New Roman" pitchFamily="18" charset="0"/>
                      </a:endParaRPr>
                    </a:p>
                  </a:txBody>
                  <a:tcPr/>
                </a:tc>
                <a:tc>
                  <a:txBody>
                    <a:bodyPr/>
                    <a:lstStyle/>
                    <a:p>
                      <a:r>
                        <a:rPr lang="en-US" sz="1600" dirty="0">
                          <a:latin typeface="Times New Roman" pitchFamily="18" charset="0"/>
                          <a:cs typeface="Times New Roman" pitchFamily="18" charset="0"/>
                        </a:rPr>
                        <a:t>There are temporal trends in the expression of happiness and sadness in adolescents’ DMs and there are individual differences in these trends.</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15724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B7392F9-89B7-5024-CEB2-ADB6BB975D86}"/>
              </a:ext>
            </a:extLst>
          </p:cNvPr>
          <p:cNvSpPr txBox="1">
            <a:spLocks noGrp="1"/>
          </p:cNvSpPr>
          <p:nvPr>
            <p:ph type="title"/>
          </p:nvPr>
        </p:nvSpPr>
        <p:spPr>
          <a:xfrm>
            <a:off x="174171" y="74133"/>
            <a:ext cx="10581915" cy="1100192"/>
          </a:xfrm>
          <a:prstGeom prst="rect">
            <a:avLst/>
          </a:prstGeom>
        </p:spPr>
        <p:style>
          <a:lnRef idx="3">
            <a:schemeClr val="lt1"/>
          </a:lnRef>
          <a:fillRef idx="1">
            <a:schemeClr val="accent1"/>
          </a:fillRef>
          <a:effectRef idx="1">
            <a:schemeClr val="accent1"/>
          </a:effectRef>
          <a:fontRef idx="minor">
            <a:schemeClr val="lt1"/>
          </a:fontRef>
        </p:style>
        <p:txBody>
          <a:bodyPr vert="horz" lIns="104493" tIns="52247" rIns="104493" bIns="52247" rtlCol="0" anchor="ctr">
            <a:noAutofit/>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a:br>
              <a:rPr lang="en-US" sz="40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4000" b="1" dirty="0">
                <a:latin typeface="Times New Roman" panose="02020603050405020304" pitchFamily="18" charset="0"/>
                <a:ea typeface="Calibri" panose="020F0502020204030204" pitchFamily="34" charset="0"/>
                <a:cs typeface="Times New Roman" panose="02020603050405020304" pitchFamily="18" charset="0"/>
              </a:rPr>
              <a:t> Literature Survey </a:t>
            </a:r>
            <a:br>
              <a:rPr lang="en-IN" sz="4000" dirty="0">
                <a:effectLst/>
                <a:latin typeface="Calibri" panose="020F0502020204030204" pitchFamily="34" charset="0"/>
                <a:ea typeface="Calibri" panose="020F0502020204030204" pitchFamily="34" charset="0"/>
                <a:cs typeface="Times New Roman" panose="02020603050405020304" pitchFamily="18" charset="0"/>
              </a:rPr>
            </a:br>
            <a:endParaRPr lang="en-US" sz="4000" dirty="0"/>
          </a:p>
        </p:txBody>
      </p:sp>
      <p:sp>
        <p:nvSpPr>
          <p:cNvPr id="4" name="Footer Placeholder 3">
            <a:extLst>
              <a:ext uri="{FF2B5EF4-FFF2-40B4-BE49-F238E27FC236}">
                <a16:creationId xmlns:a16="http://schemas.microsoft.com/office/drawing/2014/main" id="{7CE75E80-68B6-6514-B620-C025614AC1B5}"/>
              </a:ext>
            </a:extLst>
          </p:cNvPr>
          <p:cNvSpPr>
            <a:spLocks noGrp="1"/>
          </p:cNvSpPr>
          <p:nvPr>
            <p:ph type="ftr" sz="quarter" idx="11"/>
          </p:nvPr>
        </p:nvSpPr>
        <p:spPr/>
        <p:txBody>
          <a:bodyPr/>
          <a:lstStyle/>
          <a:p>
            <a:r>
              <a:rPr lang="en-US" dirty="0"/>
              <a:t>Project Title Goes here</a:t>
            </a:r>
          </a:p>
        </p:txBody>
      </p:sp>
      <p:sp>
        <p:nvSpPr>
          <p:cNvPr id="5" name="Slide Number Placeholder 4">
            <a:extLst>
              <a:ext uri="{FF2B5EF4-FFF2-40B4-BE49-F238E27FC236}">
                <a16:creationId xmlns:a16="http://schemas.microsoft.com/office/drawing/2014/main" id="{38CBCA1F-181A-0EB0-C3DE-294F74B64F3F}"/>
              </a:ext>
            </a:extLst>
          </p:cNvPr>
          <p:cNvSpPr>
            <a:spLocks noGrp="1"/>
          </p:cNvSpPr>
          <p:nvPr>
            <p:ph type="sldNum" sz="quarter" idx="12"/>
          </p:nvPr>
        </p:nvSpPr>
        <p:spPr/>
        <p:txBody>
          <a:bodyPr/>
          <a:lstStyle/>
          <a:p>
            <a:fld id="{B6F15528-21DE-4FAA-801E-634DDDAF4B2B}" type="slidenum">
              <a:rPr lang="en-US" smtClean="0"/>
              <a:pPr/>
              <a:t>8</a:t>
            </a:fld>
            <a:endParaRPr lang="en-US" dirty="0"/>
          </a:p>
        </p:txBody>
      </p:sp>
      <p:graphicFrame>
        <p:nvGraphicFramePr>
          <p:cNvPr id="2" name="Table 1">
            <a:extLst>
              <a:ext uri="{FF2B5EF4-FFF2-40B4-BE49-F238E27FC236}">
                <a16:creationId xmlns:a16="http://schemas.microsoft.com/office/drawing/2014/main" id="{883418C1-DB30-D54C-5255-FD321B55228A}"/>
              </a:ext>
            </a:extLst>
          </p:cNvPr>
          <p:cNvGraphicFramePr>
            <a:graphicFrameLocks noGrp="1"/>
          </p:cNvGraphicFramePr>
          <p:nvPr>
            <p:extLst>
              <p:ext uri="{D42A27DB-BD31-4B8C-83A1-F6EECF244321}">
                <p14:modId xmlns:p14="http://schemas.microsoft.com/office/powerpoint/2010/main" val="3296889937"/>
              </p:ext>
            </p:extLst>
          </p:nvPr>
        </p:nvGraphicFramePr>
        <p:xfrm>
          <a:off x="174171" y="1216809"/>
          <a:ext cx="10603686" cy="6093851"/>
        </p:xfrm>
        <a:graphic>
          <a:graphicData uri="http://schemas.openxmlformats.org/drawingml/2006/table">
            <a:tbl>
              <a:tblPr firstRow="1" bandRow="1">
                <a:tableStyleId>{5C22544A-7EE6-4342-B048-85BDC9FD1C3A}</a:tableStyleId>
              </a:tblPr>
              <a:tblGrid>
                <a:gridCol w="475807">
                  <a:extLst>
                    <a:ext uri="{9D8B030D-6E8A-4147-A177-3AD203B41FA5}">
                      <a16:colId xmlns:a16="http://schemas.microsoft.com/office/drawing/2014/main" val="20000"/>
                    </a:ext>
                  </a:extLst>
                </a:gridCol>
                <a:gridCol w="1788422">
                  <a:extLst>
                    <a:ext uri="{9D8B030D-6E8A-4147-A177-3AD203B41FA5}">
                      <a16:colId xmlns:a16="http://schemas.microsoft.com/office/drawing/2014/main" val="20001"/>
                    </a:ext>
                  </a:extLst>
                </a:gridCol>
                <a:gridCol w="862499">
                  <a:extLst>
                    <a:ext uri="{9D8B030D-6E8A-4147-A177-3AD203B41FA5}">
                      <a16:colId xmlns:a16="http://schemas.microsoft.com/office/drawing/2014/main" val="20002"/>
                    </a:ext>
                  </a:extLst>
                </a:gridCol>
                <a:gridCol w="1347301">
                  <a:extLst>
                    <a:ext uri="{9D8B030D-6E8A-4147-A177-3AD203B41FA5}">
                      <a16:colId xmlns:a16="http://schemas.microsoft.com/office/drawing/2014/main" val="20003"/>
                    </a:ext>
                  </a:extLst>
                </a:gridCol>
                <a:gridCol w="1752600">
                  <a:extLst>
                    <a:ext uri="{9D8B030D-6E8A-4147-A177-3AD203B41FA5}">
                      <a16:colId xmlns:a16="http://schemas.microsoft.com/office/drawing/2014/main" val="20005"/>
                    </a:ext>
                  </a:extLst>
                </a:gridCol>
                <a:gridCol w="2057400">
                  <a:extLst>
                    <a:ext uri="{9D8B030D-6E8A-4147-A177-3AD203B41FA5}">
                      <a16:colId xmlns:a16="http://schemas.microsoft.com/office/drawing/2014/main" val="20006"/>
                    </a:ext>
                  </a:extLst>
                </a:gridCol>
                <a:gridCol w="2319657">
                  <a:extLst>
                    <a:ext uri="{9D8B030D-6E8A-4147-A177-3AD203B41FA5}">
                      <a16:colId xmlns:a16="http://schemas.microsoft.com/office/drawing/2014/main" val="20004"/>
                    </a:ext>
                  </a:extLst>
                </a:gridCol>
              </a:tblGrid>
              <a:tr h="590397">
                <a:tc>
                  <a:txBody>
                    <a:bodyPr/>
                    <a:lstStyle/>
                    <a:p>
                      <a:r>
                        <a:rPr lang="en-US" sz="1600" b="1" dirty="0">
                          <a:latin typeface="Times New Roman" pitchFamily="18" charset="0"/>
                          <a:cs typeface="Times New Roman" pitchFamily="18" charset="0"/>
                        </a:rPr>
                        <a:t>Sr. No</a:t>
                      </a:r>
                    </a:p>
                  </a:txBody>
                  <a:tcPr/>
                </a:tc>
                <a:tc>
                  <a:txBody>
                    <a:bodyPr/>
                    <a:lstStyle/>
                    <a:p>
                      <a:r>
                        <a:rPr lang="en-US" sz="1600" b="1" dirty="0">
                          <a:latin typeface="Times New Roman" pitchFamily="18" charset="0"/>
                          <a:cs typeface="Times New Roman" pitchFamily="18" charset="0"/>
                        </a:rPr>
                        <a:t>Topic Name</a:t>
                      </a:r>
                    </a:p>
                  </a:txBody>
                  <a:tcPr/>
                </a:tc>
                <a:tc>
                  <a:txBody>
                    <a:bodyPr/>
                    <a:lstStyle/>
                    <a:p>
                      <a:r>
                        <a:rPr lang="en-US" sz="1600" b="1" dirty="0">
                          <a:latin typeface="Times New Roman" pitchFamily="18" charset="0"/>
                          <a:cs typeface="Times New Roman" pitchFamily="18" charset="0"/>
                        </a:rPr>
                        <a:t>Year</a:t>
                      </a:r>
                    </a:p>
                  </a:txBody>
                  <a:tcPr/>
                </a:tc>
                <a:tc>
                  <a:txBody>
                    <a:bodyPr/>
                    <a:lstStyle/>
                    <a:p>
                      <a:r>
                        <a:rPr lang="en-US" sz="1600" b="1" dirty="0">
                          <a:latin typeface="Times New Roman" pitchFamily="18" charset="0"/>
                          <a:cs typeface="Times New Roman" pitchFamily="18" charset="0"/>
                        </a:rPr>
                        <a:t>Author</a:t>
                      </a:r>
                      <a:r>
                        <a:rPr lang="en-US" sz="1600" b="1" baseline="0" dirty="0">
                          <a:latin typeface="Times New Roman" pitchFamily="18" charset="0"/>
                          <a:cs typeface="Times New Roman" pitchFamily="18" charset="0"/>
                        </a:rPr>
                        <a:t> </a:t>
                      </a:r>
                      <a:r>
                        <a:rPr lang="en-US" sz="1600" b="1" dirty="0">
                          <a:latin typeface="Times New Roman" pitchFamily="18" charset="0"/>
                          <a:cs typeface="Times New Roman" pitchFamily="18" charset="0"/>
                        </a:rPr>
                        <a:t>Name</a:t>
                      </a:r>
                    </a:p>
                  </a:txBody>
                  <a:tcPr/>
                </a:tc>
                <a:tc>
                  <a:txBody>
                    <a:bodyPr/>
                    <a:lstStyle/>
                    <a:p>
                      <a:r>
                        <a:rPr lang="en-US" sz="1600" b="1" dirty="0">
                          <a:latin typeface="Times New Roman" pitchFamily="18" charset="0"/>
                          <a:cs typeface="Times New Roman" pitchFamily="18" charset="0"/>
                        </a:rPr>
                        <a:t>Advantages</a:t>
                      </a:r>
                    </a:p>
                  </a:txBody>
                  <a:tcPr/>
                </a:tc>
                <a:tc>
                  <a:txBody>
                    <a:bodyPr/>
                    <a:lstStyle/>
                    <a:p>
                      <a:r>
                        <a:rPr lang="en-US" sz="1600" b="1" dirty="0">
                          <a:latin typeface="Times New Roman" pitchFamily="18" charset="0"/>
                          <a:cs typeface="Times New Roman" pitchFamily="18" charset="0"/>
                        </a:rPr>
                        <a:t>Disadvantages</a:t>
                      </a:r>
                    </a:p>
                  </a:txBody>
                  <a:tcPr/>
                </a:tc>
                <a:tc>
                  <a:txBody>
                    <a:bodyPr/>
                    <a:lstStyle/>
                    <a:p>
                      <a:r>
                        <a:rPr lang="en-US" sz="1600" b="1" dirty="0">
                          <a:latin typeface="Times New Roman" pitchFamily="18" charset="0"/>
                          <a:cs typeface="Times New Roman" pitchFamily="18" charset="0"/>
                        </a:rPr>
                        <a:t>Description</a:t>
                      </a:r>
                    </a:p>
                  </a:txBody>
                  <a:tcPr/>
                </a:tc>
                <a:extLst>
                  <a:ext uri="{0D108BD9-81ED-4DB2-BD59-A6C34878D82A}">
                    <a16:rowId xmlns:a16="http://schemas.microsoft.com/office/drawing/2014/main" val="10000"/>
                  </a:ext>
                </a:extLst>
              </a:tr>
              <a:tr h="1833337">
                <a:tc>
                  <a:txBody>
                    <a:bodyPr/>
                    <a:lstStyle/>
                    <a:p>
                      <a:r>
                        <a:rPr lang="en-US" sz="1600" dirty="0">
                          <a:latin typeface="Times New Roman" pitchFamily="18" charset="0"/>
                          <a:cs typeface="Times New Roman" pitchFamily="18" charset="0"/>
                        </a:rPr>
                        <a:t>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Object and Text Recognition in Images Shared in Private Instagram Conversations to Detect Risky Content</a:t>
                      </a:r>
                    </a:p>
                  </a:txBody>
                  <a:tcPr/>
                </a:tc>
                <a:tc>
                  <a:txBody>
                    <a:bodyPr/>
                    <a:lstStyle/>
                    <a:p>
                      <a:r>
                        <a:rPr lang="en-US" sz="1600" dirty="0">
                          <a:latin typeface="Times New Roman" pitchFamily="18" charset="0"/>
                          <a:cs typeface="Times New Roman" pitchFamily="18" charset="0"/>
                        </a:rPr>
                        <a:t>2021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Tess Conroy, </a:t>
                      </a:r>
                      <a:r>
                        <a:rPr lang="it-IT" sz="1600" dirty="0">
                          <a:latin typeface="Times New Roman" pitchFamily="18" charset="0"/>
                          <a:cs typeface="Times New Roman" pitchFamily="18" charset="0"/>
                        </a:rPr>
                        <a:t>Shiza Ali, Dr. Gianluca Stringhini</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Identifying and flagging potentially harmful or inappropriate content in private conversations,</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Developing and maintaining a robust object and text recognition system requires significant resources, including computational power</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To emphasize the importance of ethical considerations, privacy, and consent when implementing such a system. </a:t>
                      </a:r>
                      <a:endParaRPr lang="en-US" sz="16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2081925">
                <a:tc>
                  <a:txBody>
                    <a:bodyPr/>
                    <a:lstStyle/>
                    <a:p>
                      <a:r>
                        <a:rPr lang="en-US" sz="1600" dirty="0">
                          <a:latin typeface="Times New Roman" pitchFamily="18" charset="0"/>
                          <a:cs typeface="Times New Roman" pitchFamily="18" charset="0"/>
                        </a:rPr>
                        <a:t>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Unveiling the Emotional and Psychological States of Instagram Users: A Deep Learning Approach to Mental Health Analysis</a:t>
                      </a:r>
                    </a:p>
                  </a:txBody>
                  <a:tcPr/>
                </a:tc>
                <a:tc>
                  <a:txBody>
                    <a:bodyPr/>
                    <a:lstStyle/>
                    <a:p>
                      <a:r>
                        <a:rPr lang="en-US" sz="1600" dirty="0">
                          <a:latin typeface="Times New Roman" pitchFamily="18" charset="0"/>
                          <a:cs typeface="Times New Roman" pitchFamily="18" charset="0"/>
                        </a:rPr>
                        <a:t>2022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Muhammad K. </a:t>
                      </a:r>
                      <a:r>
                        <a:rPr lang="en-US" sz="1600" dirty="0" err="1">
                          <a:latin typeface="Times New Roman" pitchFamily="18" charset="0"/>
                          <a:cs typeface="Times New Roman" pitchFamily="18" charset="0"/>
                        </a:rPr>
                        <a:t>Alabdly</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Provide an objective assessment of emotional and psychological states by analyzing user-generated content.</a:t>
                      </a:r>
                      <a:endParaRPr lang="en-US" sz="1600" dirty="0">
                        <a:latin typeface="Times New Roman" pitchFamily="18" charset="0"/>
                        <a:cs typeface="Times New Roman" pitchFamily="18" charset="0"/>
                      </a:endParaRP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People may post content that doesn't reflect their actual feelings or may intentionally mislead for various reasons.</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itchFamily="18" charset="0"/>
                          <a:cs typeface="Times New Roman" pitchFamily="18" charset="0"/>
                        </a:rPr>
                        <a:t>Utilizing social network data to diagnose depression has gained extensive acceptance, there is still a number of unidentified characteristics</a:t>
                      </a:r>
                    </a:p>
                    <a:p>
                      <a:endParaRPr lang="en-US" sz="16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588192">
                <a:tc>
                  <a:txBody>
                    <a:bodyPr/>
                    <a:lstStyle/>
                    <a:p>
                      <a:r>
                        <a:rPr lang="en-US" sz="1600" dirty="0">
                          <a:latin typeface="Times New Roman" pitchFamily="18" charset="0"/>
                          <a:cs typeface="Times New Roman" pitchFamily="18" charset="0"/>
                        </a:rPr>
                        <a:t>7</a:t>
                      </a:r>
                    </a:p>
                  </a:txBody>
                  <a:tcPr/>
                </a:tc>
                <a:tc>
                  <a:txBody>
                    <a:bodyPr/>
                    <a:lstStyle/>
                    <a:p>
                      <a:r>
                        <a:rPr lang="en-US" sz="1600" dirty="0">
                          <a:latin typeface="Times New Roman" pitchFamily="18" charset="0"/>
                          <a:cs typeface="Times New Roman" pitchFamily="18" charset="0"/>
                        </a:rPr>
                        <a:t>Fake </a:t>
                      </a:r>
                      <a:r>
                        <a:rPr lang="en-US" sz="1600" dirty="0" err="1">
                          <a:latin typeface="Times New Roman" pitchFamily="18" charset="0"/>
                          <a:cs typeface="Times New Roman" pitchFamily="18" charset="0"/>
                        </a:rPr>
                        <a:t>Instagram</a:t>
                      </a:r>
                      <a:r>
                        <a:rPr lang="en-US" sz="1600" dirty="0">
                          <a:latin typeface="Times New Roman" pitchFamily="18" charset="0"/>
                          <a:cs typeface="Times New Roman" pitchFamily="18" charset="0"/>
                        </a:rPr>
                        <a:t> Profile Identification and Classification using Machine Learning </a:t>
                      </a:r>
                    </a:p>
                  </a:txBody>
                  <a:tcPr/>
                </a:tc>
                <a:tc>
                  <a:txBody>
                    <a:bodyPr/>
                    <a:lstStyle/>
                    <a:p>
                      <a:r>
                        <a:rPr lang="en-US" sz="1600" dirty="0">
                          <a:latin typeface="Times New Roman" pitchFamily="18" charset="0"/>
                          <a:cs typeface="Times New Roman" pitchFamily="18" charset="0"/>
                        </a:rPr>
                        <a:t>2021</a:t>
                      </a:r>
                    </a:p>
                  </a:txBody>
                  <a:tcPr/>
                </a:tc>
                <a:tc>
                  <a:txBody>
                    <a:bodyPr/>
                    <a:lstStyle/>
                    <a:p>
                      <a:r>
                        <a:rPr lang="en-US" sz="1600" dirty="0" err="1">
                          <a:latin typeface="Times New Roman" pitchFamily="18" charset="0"/>
                          <a:cs typeface="Times New Roman" pitchFamily="18" charset="0"/>
                        </a:rPr>
                        <a:t>Preethi</a:t>
                      </a:r>
                      <a:r>
                        <a:rPr lang="en-US" sz="1600" dirty="0">
                          <a:latin typeface="Times New Roman" pitchFamily="18" charset="0"/>
                          <a:cs typeface="Times New Roman" pitchFamily="18" charset="0"/>
                        </a:rPr>
                        <a:t> Harris , </a:t>
                      </a:r>
                      <a:r>
                        <a:rPr lang="en-US" sz="1600" dirty="0" err="1">
                          <a:latin typeface="Times New Roman" pitchFamily="18" charset="0"/>
                          <a:cs typeface="Times New Roman" pitchFamily="18" charset="0"/>
                        </a:rPr>
                        <a:t>Gojal</a:t>
                      </a:r>
                      <a:r>
                        <a:rPr lang="en-US" sz="1600" dirty="0">
                          <a:latin typeface="Times New Roman" pitchFamily="18" charset="0"/>
                          <a:cs typeface="Times New Roman" pitchFamily="18" charset="0"/>
                        </a:rPr>
                        <a:t> J </a:t>
                      </a:r>
                    </a:p>
                  </a:txBody>
                  <a:tcPr/>
                </a:tc>
                <a:tc>
                  <a:txBody>
                    <a:bodyPr/>
                    <a:lstStyle/>
                    <a:p>
                      <a:r>
                        <a:rPr lang="en-US" sz="1600" b="0" i="0" kern="1200" dirty="0">
                          <a:solidFill>
                            <a:schemeClr val="dk1"/>
                          </a:solidFill>
                          <a:effectLst/>
                          <a:latin typeface="Times New Roman" pitchFamily="18" charset="0"/>
                          <a:ea typeface="+mn-ea"/>
                          <a:cs typeface="Times New Roman" pitchFamily="18" charset="0"/>
                        </a:rPr>
                        <a:t>Handle a massive number of profiles, which is crucial on a platform as large as </a:t>
                      </a:r>
                      <a:r>
                        <a:rPr lang="en-US" sz="1600" b="0" i="0" kern="1200" dirty="0" err="1">
                          <a:solidFill>
                            <a:schemeClr val="dk1"/>
                          </a:solidFill>
                          <a:effectLst/>
                          <a:latin typeface="Times New Roman" pitchFamily="18" charset="0"/>
                          <a:ea typeface="+mn-ea"/>
                          <a:cs typeface="Times New Roman" pitchFamily="18" charset="0"/>
                        </a:rPr>
                        <a:t>Instagram</a:t>
                      </a:r>
                      <a:r>
                        <a:rPr lang="en-US" sz="1600" b="0" i="0" kern="1200" dirty="0">
                          <a:solidFill>
                            <a:schemeClr val="dk1"/>
                          </a:solidFill>
                          <a:effectLst/>
                          <a:latin typeface="Times New Roman" pitchFamily="18" charset="0"/>
                          <a:ea typeface="+mn-ea"/>
                          <a:cs typeface="Times New Roman" pitchFamily="18" charset="0"/>
                        </a:rPr>
                        <a:t>.</a:t>
                      </a:r>
                      <a:endParaRPr lang="en-US" sz="1600" dirty="0">
                        <a:latin typeface="Times New Roman" pitchFamily="18" charset="0"/>
                        <a:cs typeface="Times New Roman" pitchFamily="18" charset="0"/>
                      </a:endParaRPr>
                    </a:p>
                  </a:txBody>
                  <a:tcPr/>
                </a:tc>
                <a:tc>
                  <a:txBody>
                    <a:bodyPr/>
                    <a:lstStyle/>
                    <a:p>
                      <a:r>
                        <a:rPr lang="en-US" sz="1600" dirty="0">
                          <a:latin typeface="Times New Roman" pitchFamily="18" charset="0"/>
                          <a:cs typeface="Times New Roman" pitchFamily="18" charset="0"/>
                        </a:rPr>
                        <a:t>I</a:t>
                      </a:r>
                      <a:r>
                        <a:rPr lang="en-US" sz="1600" b="0" i="0" kern="1200" dirty="0">
                          <a:solidFill>
                            <a:schemeClr val="dk1"/>
                          </a:solidFill>
                          <a:effectLst/>
                          <a:latin typeface="Times New Roman" pitchFamily="18" charset="0"/>
                          <a:ea typeface="+mn-ea"/>
                          <a:cs typeface="Times New Roman" pitchFamily="18" charset="0"/>
                        </a:rPr>
                        <a:t>t may lead to unfair or inaccurate profiling and potential discrimination.</a:t>
                      </a:r>
                      <a:endParaRPr lang="en-US" sz="1600" dirty="0">
                        <a:latin typeface="Times New Roman" pitchFamily="18" charset="0"/>
                        <a:cs typeface="Times New Roman" pitchFamily="18" charset="0"/>
                      </a:endParaRPr>
                    </a:p>
                  </a:txBody>
                  <a:tcPr/>
                </a:tc>
                <a:tc>
                  <a:txBody>
                    <a:bodyPr/>
                    <a:lstStyle/>
                    <a:p>
                      <a:r>
                        <a:rPr lang="en-US" sz="1600" dirty="0">
                          <a:latin typeface="Times New Roman" pitchFamily="18" charset="0"/>
                          <a:cs typeface="Times New Roman" pitchFamily="18" charset="0"/>
                        </a:rPr>
                        <a:t>The popularity of social media users is determined by followers and hence users resort to different wrong means to promote increased profile.</a:t>
                      </a:r>
                    </a:p>
                  </a:txBody>
                  <a:tcPr/>
                </a:tc>
                <a:extLst>
                  <a:ext uri="{0D108BD9-81ED-4DB2-BD59-A6C34878D82A}">
                    <a16:rowId xmlns:a16="http://schemas.microsoft.com/office/drawing/2014/main" val="2925159999"/>
                  </a:ext>
                </a:extLst>
              </a:tr>
            </a:tbl>
          </a:graphicData>
        </a:graphic>
      </p:graphicFrame>
    </p:spTree>
    <p:extLst>
      <p:ext uri="{BB962C8B-B14F-4D97-AF65-F5344CB8AC3E}">
        <p14:creationId xmlns:p14="http://schemas.microsoft.com/office/powerpoint/2010/main" val="4039448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9610-F72B-A4B6-5353-AE8D954C8467}"/>
              </a:ext>
            </a:extLst>
          </p:cNvPr>
          <p:cNvSpPr>
            <a:spLocks noGrp="1"/>
          </p:cNvSpPr>
          <p:nvPr>
            <p:ph type="title"/>
          </p:nvPr>
        </p:nvSpPr>
        <p:spPr>
          <a:xfrm>
            <a:off x="381000" y="145625"/>
            <a:ext cx="10210800" cy="1073575"/>
          </a:xfrm>
          <a:solidFill>
            <a:schemeClr val="accent1"/>
          </a:solidFill>
        </p:spPr>
        <p:txBody>
          <a:bodyPr>
            <a:noAutofit/>
          </a:bodyPr>
          <a:lstStyle/>
          <a:p>
            <a:pPr lvl="0"/>
            <a:r>
              <a:rPr lang="en-US"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Software &amp; Hardware Requirements</a:t>
            </a:r>
          </a:p>
        </p:txBody>
      </p:sp>
      <p:sp>
        <p:nvSpPr>
          <p:cNvPr id="4" name="Footer Placeholder 3">
            <a:extLst>
              <a:ext uri="{FF2B5EF4-FFF2-40B4-BE49-F238E27FC236}">
                <a16:creationId xmlns:a16="http://schemas.microsoft.com/office/drawing/2014/main" id="{AC966EAF-3C17-B3AB-403F-2AA028DABC41}"/>
              </a:ext>
            </a:extLst>
          </p:cNvPr>
          <p:cNvSpPr>
            <a:spLocks noGrp="1"/>
          </p:cNvSpPr>
          <p:nvPr>
            <p:ph type="ftr" sz="quarter" idx="11"/>
          </p:nvPr>
        </p:nvSpPr>
        <p:spPr/>
        <p:txBody>
          <a:bodyPr/>
          <a:lstStyle/>
          <a:p>
            <a:r>
              <a:rPr lang="en-US"/>
              <a:t>Project Title Goes here</a:t>
            </a:r>
            <a:endParaRPr lang="en-US" dirty="0"/>
          </a:p>
        </p:txBody>
      </p:sp>
      <p:sp>
        <p:nvSpPr>
          <p:cNvPr id="5" name="Slide Number Placeholder 4">
            <a:extLst>
              <a:ext uri="{FF2B5EF4-FFF2-40B4-BE49-F238E27FC236}">
                <a16:creationId xmlns:a16="http://schemas.microsoft.com/office/drawing/2014/main" id="{0BE163B6-AFD2-A88B-D03E-B6EE2568A426}"/>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extBox 6">
            <a:extLst>
              <a:ext uri="{FF2B5EF4-FFF2-40B4-BE49-F238E27FC236}">
                <a16:creationId xmlns:a16="http://schemas.microsoft.com/office/drawing/2014/main" id="{04CEBD54-6BFB-9CBF-DFAE-7A4BC51B2987}"/>
              </a:ext>
            </a:extLst>
          </p:cNvPr>
          <p:cNvSpPr txBox="1"/>
          <p:nvPr/>
        </p:nvSpPr>
        <p:spPr>
          <a:xfrm>
            <a:off x="1066800" y="1575660"/>
            <a:ext cx="6705600" cy="5576976"/>
          </a:xfrm>
          <a:prstGeom prst="rect">
            <a:avLst/>
          </a:prstGeom>
          <a:noFill/>
        </p:spPr>
        <p:txBody>
          <a:bodyPr wrap="square">
            <a:spAutoFit/>
          </a:bodyPr>
          <a:lstStyle/>
          <a:p>
            <a:pPr marL="342900" lvl="0" indent="-342900" algn="just" rtl="0">
              <a:lnSpc>
                <a:spcPct val="150000"/>
              </a:lnSpc>
              <a:spcBef>
                <a:spcPts val="0"/>
              </a:spcBef>
              <a:spcAft>
                <a:spcPts val="0"/>
              </a:spcAft>
              <a:buFont typeface="Wingdings" panose="05000000000000000000" pitchFamily="2" charset="2"/>
              <a:buChar char="q"/>
            </a:pPr>
            <a:r>
              <a:rPr lang="en-IN" sz="2000" b="1" dirty="0">
                <a:solidFill>
                  <a:srgbClr val="00000A"/>
                </a:solidFill>
                <a:latin typeface="Times New Roman"/>
                <a:ea typeface="Times New Roman"/>
                <a:cs typeface="Times New Roman"/>
                <a:sym typeface="Times New Roman"/>
              </a:rPr>
              <a:t>	Software Requirements Specification</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Coding Language         : Python</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Operating System         : Windows 10</a:t>
            </a:r>
          </a:p>
          <a:p>
            <a:pPr marL="0" lvl="0" indent="0" algn="just" rtl="0">
              <a:lnSpc>
                <a:spcPct val="150000"/>
              </a:lnSpc>
              <a:spcBef>
                <a:spcPts val="0"/>
              </a:spcBef>
              <a:spcAft>
                <a:spcPts val="0"/>
              </a:spcAft>
              <a:buNone/>
            </a:pPr>
            <a:endParaRPr lang="en-IN" sz="2000" dirty="0">
              <a:solidFill>
                <a:srgbClr val="00000A"/>
              </a:solidFill>
              <a:latin typeface="Times New Roman"/>
              <a:ea typeface="Times New Roman"/>
              <a:cs typeface="Times New Roman"/>
              <a:sym typeface="Times New Roman"/>
            </a:endParaRPr>
          </a:p>
          <a:p>
            <a:pPr marL="342900" lvl="0" indent="-342900" algn="just" rtl="0">
              <a:lnSpc>
                <a:spcPct val="150000"/>
              </a:lnSpc>
              <a:spcBef>
                <a:spcPts val="0"/>
              </a:spcBef>
              <a:spcAft>
                <a:spcPts val="0"/>
              </a:spcAft>
              <a:buFont typeface="Wingdings" panose="05000000000000000000" pitchFamily="2" charset="2"/>
              <a:buChar char="q"/>
            </a:pPr>
            <a:r>
              <a:rPr lang="en-IN" sz="2000" b="1" dirty="0">
                <a:solidFill>
                  <a:srgbClr val="00000A"/>
                </a:solidFill>
                <a:latin typeface="Times New Roman"/>
                <a:ea typeface="Times New Roman"/>
                <a:cs typeface="Times New Roman"/>
                <a:sym typeface="Times New Roman"/>
              </a:rPr>
              <a:t>	Hardware Requirements Specification</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Processor                 : Pentium-IV</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RAM                        :512 MB(min)</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Hard Disk                :  40 GB</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Key Board                : Standard Windows Keyboard</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Mouse                      : Two or Three Button Mouse</a:t>
            </a:r>
          </a:p>
          <a:p>
            <a:pPr marL="446088" lvl="0" indent="-358775" algn="just" rtl="0">
              <a:lnSpc>
                <a:spcPct val="150000"/>
              </a:lnSpc>
              <a:spcBef>
                <a:spcPts val="0"/>
              </a:spcBef>
              <a:spcAft>
                <a:spcPts val="0"/>
              </a:spcAft>
              <a:buFont typeface="Arial" panose="020B0604020202020204" pitchFamily="34" charset="0"/>
              <a:buChar char="•"/>
            </a:pPr>
            <a:r>
              <a:rPr lang="en-US" sz="2000" dirty="0">
                <a:solidFill>
                  <a:srgbClr val="00000A"/>
                </a:solidFill>
                <a:latin typeface="Times New Roman"/>
                <a:ea typeface="Times New Roman"/>
                <a:cs typeface="Times New Roman"/>
                <a:sym typeface="Times New Roman"/>
              </a:rPr>
              <a:t>Monitor                    : LCD/LED</a:t>
            </a:r>
          </a:p>
          <a:p>
            <a:pPr marL="0" lvl="0" indent="0" algn="just" rtl="0">
              <a:lnSpc>
                <a:spcPct val="150000"/>
              </a:lnSpc>
              <a:spcBef>
                <a:spcPts val="0"/>
              </a:spcBef>
              <a:spcAft>
                <a:spcPts val="0"/>
              </a:spcAft>
              <a:buNone/>
            </a:pPr>
            <a:endParaRPr lang="en-IN" sz="2000" dirty="0">
              <a:solidFill>
                <a:srgbClr val="00000A"/>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79860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9610-F72B-A4B6-5353-AE8D954C8467}"/>
              </a:ext>
            </a:extLst>
          </p:cNvPr>
          <p:cNvSpPr>
            <a:spLocks noGrp="1"/>
          </p:cNvSpPr>
          <p:nvPr>
            <p:ph type="title"/>
          </p:nvPr>
        </p:nvSpPr>
        <p:spPr>
          <a:xfrm>
            <a:off x="548640" y="134739"/>
            <a:ext cx="9875520" cy="1273387"/>
          </a:xfrm>
          <a:solidFill>
            <a:schemeClr val="accent1"/>
          </a:solidFill>
        </p:spPr>
        <p:txBody>
          <a:bodyPr>
            <a:normAutofit/>
          </a:bodyPr>
          <a:lstStyle/>
          <a:p>
            <a:r>
              <a:rPr lang="en-US" sz="4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Project Scope </a:t>
            </a:r>
          </a:p>
        </p:txBody>
      </p:sp>
      <p:sp>
        <p:nvSpPr>
          <p:cNvPr id="5" name="Slide Number Placeholder 4">
            <a:extLst>
              <a:ext uri="{FF2B5EF4-FFF2-40B4-BE49-F238E27FC236}">
                <a16:creationId xmlns:a16="http://schemas.microsoft.com/office/drawing/2014/main" id="{0BE163B6-AFD2-A88B-D03E-B6EE2568A426}"/>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6" name="TextBox 5">
            <a:extLst>
              <a:ext uri="{FF2B5EF4-FFF2-40B4-BE49-F238E27FC236}">
                <a16:creationId xmlns:a16="http://schemas.microsoft.com/office/drawing/2014/main" id="{2372D274-0631-31E4-E00F-5EAAEE9544D0}"/>
              </a:ext>
            </a:extLst>
          </p:cNvPr>
          <p:cNvSpPr txBox="1"/>
          <p:nvPr/>
        </p:nvSpPr>
        <p:spPr>
          <a:xfrm>
            <a:off x="548640" y="1662415"/>
            <a:ext cx="9875520" cy="50285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Gathering a diverse dataset of Instagram profiles, including both genuine and fake accounts, and preprocessing the data to make it suitable for machine learning.</a:t>
            </a:r>
          </a:p>
          <a:p>
            <a:pPr marL="285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Extracting features from Instagram profiles and activities, such as posting behavior, follower statistics, engagement patterns, and content analysis.</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Exploring various machine learning algorithms, training the model on the dataset, and optimizing it for accuracy and efficiency.</a:t>
            </a:r>
          </a:p>
          <a:p>
            <a:pPr marL="285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Developing a classification system to categorize detected fake profiles into specific categories based on their deceptive behavior.</a:t>
            </a:r>
          </a:p>
          <a:p>
            <a:pPr marL="285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Implementing a solution that can handle both real-time and batch processing of profiles, depending on the deployment scenario.</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Ensuring the project adheres to privacy regulations and guidelines, protecting the personal information of users during data collection and processing.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286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9610-F72B-A4B6-5353-AE8D954C8467}"/>
              </a:ext>
            </a:extLst>
          </p:cNvPr>
          <p:cNvSpPr>
            <a:spLocks noGrp="1"/>
          </p:cNvSpPr>
          <p:nvPr>
            <p:ph type="title"/>
          </p:nvPr>
        </p:nvSpPr>
        <p:spPr>
          <a:xfrm>
            <a:off x="419100" y="134739"/>
            <a:ext cx="10134600" cy="1073575"/>
          </a:xfrm>
          <a:solidFill>
            <a:schemeClr val="accent1"/>
          </a:solidFill>
        </p:spPr>
        <p:txBody>
          <a:bodyPr>
            <a:noAutofit/>
          </a:bodyPr>
          <a:lstStyle/>
          <a:p>
            <a:pPr lvl="0"/>
            <a:r>
              <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Project Timeline chart</a:t>
            </a:r>
          </a:p>
        </p:txBody>
      </p:sp>
      <p:sp>
        <p:nvSpPr>
          <p:cNvPr id="4" name="Footer Placeholder 3">
            <a:extLst>
              <a:ext uri="{FF2B5EF4-FFF2-40B4-BE49-F238E27FC236}">
                <a16:creationId xmlns:a16="http://schemas.microsoft.com/office/drawing/2014/main" id="{AC966EAF-3C17-B3AB-403F-2AA028DABC41}"/>
              </a:ext>
            </a:extLst>
          </p:cNvPr>
          <p:cNvSpPr>
            <a:spLocks noGrp="1"/>
          </p:cNvSpPr>
          <p:nvPr>
            <p:ph type="ftr" sz="quarter" idx="11"/>
          </p:nvPr>
        </p:nvSpPr>
        <p:spPr/>
        <p:txBody>
          <a:bodyPr/>
          <a:lstStyle/>
          <a:p>
            <a:r>
              <a:rPr lang="en-US"/>
              <a:t>Project Title Goes here</a:t>
            </a:r>
            <a:endParaRPr lang="en-US" dirty="0"/>
          </a:p>
        </p:txBody>
      </p:sp>
      <p:sp>
        <p:nvSpPr>
          <p:cNvPr id="5" name="Slide Number Placeholder 4">
            <a:extLst>
              <a:ext uri="{FF2B5EF4-FFF2-40B4-BE49-F238E27FC236}">
                <a16:creationId xmlns:a16="http://schemas.microsoft.com/office/drawing/2014/main" id="{0BE163B6-AFD2-A88B-D03E-B6EE2568A426}"/>
              </a:ext>
            </a:extLst>
          </p:cNvPr>
          <p:cNvSpPr>
            <a:spLocks noGrp="1"/>
          </p:cNvSpPr>
          <p:nvPr>
            <p:ph type="sldNum" sz="quarter" idx="12"/>
          </p:nvPr>
        </p:nvSpPr>
        <p:spPr/>
        <p:txBody>
          <a:bodyPr/>
          <a:lstStyle/>
          <a:p>
            <a:fld id="{B6F15528-21DE-4FAA-801E-634DDDAF4B2B}" type="slidenum">
              <a:rPr lang="en-US" smtClean="0"/>
              <a:pPr/>
              <a:t>11</a:t>
            </a:fld>
            <a:endParaRPr lang="en-US" dirty="0"/>
          </a:p>
        </p:txBody>
      </p:sp>
      <p:graphicFrame>
        <p:nvGraphicFramePr>
          <p:cNvPr id="6" name="Table 5">
            <a:extLst>
              <a:ext uri="{FF2B5EF4-FFF2-40B4-BE49-F238E27FC236}">
                <a16:creationId xmlns:a16="http://schemas.microsoft.com/office/drawing/2014/main" id="{9B88C3E9-CF51-77B1-39B5-6B1AFDFBF016}"/>
              </a:ext>
            </a:extLst>
          </p:cNvPr>
          <p:cNvGraphicFramePr>
            <a:graphicFrameLocks noGrp="1"/>
          </p:cNvGraphicFramePr>
          <p:nvPr>
            <p:extLst>
              <p:ext uri="{D42A27DB-BD31-4B8C-83A1-F6EECF244321}">
                <p14:modId xmlns:p14="http://schemas.microsoft.com/office/powerpoint/2010/main" val="1262215948"/>
              </p:ext>
            </p:extLst>
          </p:nvPr>
        </p:nvGraphicFramePr>
        <p:xfrm>
          <a:off x="419099" y="1295400"/>
          <a:ext cx="10134601" cy="5486401"/>
        </p:xfrm>
        <a:graphic>
          <a:graphicData uri="http://schemas.openxmlformats.org/drawingml/2006/table">
            <a:tbl>
              <a:tblPr firstRow="1" bandRow="1">
                <a:tableStyleId>{5C22544A-7EE6-4342-B048-85BDC9FD1C3A}</a:tableStyleId>
              </a:tblPr>
              <a:tblGrid>
                <a:gridCol w="1410320">
                  <a:extLst>
                    <a:ext uri="{9D8B030D-6E8A-4147-A177-3AD203B41FA5}">
                      <a16:colId xmlns:a16="http://schemas.microsoft.com/office/drawing/2014/main" val="20000"/>
                    </a:ext>
                  </a:extLst>
                </a:gridCol>
                <a:gridCol w="3374477">
                  <a:extLst>
                    <a:ext uri="{9D8B030D-6E8A-4147-A177-3AD203B41FA5}">
                      <a16:colId xmlns:a16="http://schemas.microsoft.com/office/drawing/2014/main" val="20001"/>
                    </a:ext>
                  </a:extLst>
                </a:gridCol>
                <a:gridCol w="2674902">
                  <a:extLst>
                    <a:ext uri="{9D8B030D-6E8A-4147-A177-3AD203B41FA5}">
                      <a16:colId xmlns:a16="http://schemas.microsoft.com/office/drawing/2014/main" val="20002"/>
                    </a:ext>
                  </a:extLst>
                </a:gridCol>
                <a:gridCol w="2674902">
                  <a:extLst>
                    <a:ext uri="{9D8B030D-6E8A-4147-A177-3AD203B41FA5}">
                      <a16:colId xmlns:a16="http://schemas.microsoft.com/office/drawing/2014/main" val="20003"/>
                    </a:ext>
                  </a:extLst>
                </a:gridCol>
              </a:tblGrid>
              <a:tr h="722328">
                <a:tc>
                  <a:txBody>
                    <a:bodyPr/>
                    <a:lstStyle/>
                    <a:p>
                      <a:r>
                        <a:rPr lang="en-US" dirty="0">
                          <a:latin typeface="Times New Roman" pitchFamily="18" charset="0"/>
                          <a:cs typeface="Times New Roman" pitchFamily="18" charset="0"/>
                        </a:rPr>
                        <a:t>Sr .No</a:t>
                      </a:r>
                    </a:p>
                  </a:txBody>
                  <a:tcPr/>
                </a:tc>
                <a:tc>
                  <a:txBody>
                    <a:bodyPr/>
                    <a:lstStyle/>
                    <a:p>
                      <a:r>
                        <a:rPr lang="en-US" dirty="0">
                          <a:latin typeface="Times New Roman" pitchFamily="18" charset="0"/>
                          <a:cs typeface="Times New Roman" pitchFamily="18" charset="0"/>
                        </a:rPr>
                        <a:t>Task</a:t>
                      </a:r>
                    </a:p>
                  </a:txBody>
                  <a:tcPr/>
                </a:tc>
                <a:tc>
                  <a:txBody>
                    <a:bodyPr/>
                    <a:lstStyle/>
                    <a:p>
                      <a:r>
                        <a:rPr lang="en-US" dirty="0">
                          <a:latin typeface="Times New Roman" pitchFamily="18" charset="0"/>
                          <a:cs typeface="Times New Roman" pitchFamily="18" charset="0"/>
                        </a:rPr>
                        <a:t>Description</a:t>
                      </a:r>
                    </a:p>
                  </a:txBody>
                  <a:tcPr/>
                </a:tc>
                <a:tc>
                  <a:txBody>
                    <a:bodyPr/>
                    <a:lstStyle/>
                    <a:p>
                      <a:r>
                        <a:rPr lang="en-US" dirty="0">
                          <a:latin typeface="Times New Roman" pitchFamily="18" charset="0"/>
                          <a:cs typeface="Times New Roman" pitchFamily="18" charset="0"/>
                        </a:rPr>
                        <a:t>Duration</a:t>
                      </a:r>
                    </a:p>
                    <a:p>
                      <a:r>
                        <a:rPr lang="en-US" dirty="0">
                          <a:latin typeface="Times New Roman" pitchFamily="18" charset="0"/>
                          <a:cs typeface="Times New Roman" pitchFamily="18" charset="0"/>
                        </a:rPr>
                        <a:t>(Months)</a:t>
                      </a:r>
                    </a:p>
                  </a:txBody>
                  <a:tcPr/>
                </a:tc>
                <a:extLst>
                  <a:ext uri="{0D108BD9-81ED-4DB2-BD59-A6C34878D82A}">
                    <a16:rowId xmlns:a16="http://schemas.microsoft.com/office/drawing/2014/main" val="10000"/>
                  </a:ext>
                </a:extLst>
              </a:tr>
              <a:tr h="290705">
                <a:tc>
                  <a:txBody>
                    <a:bodyPr/>
                    <a:lstStyle/>
                    <a:p>
                      <a:r>
                        <a:rPr lang="en-US" sz="1100" dirty="0">
                          <a:latin typeface="Times New Roman" pitchFamily="18" charset="0"/>
                          <a:cs typeface="Times New Roman" pitchFamily="18" charset="0"/>
                        </a:rPr>
                        <a:t>1</a:t>
                      </a:r>
                    </a:p>
                  </a:txBody>
                  <a:tcPr/>
                </a:tc>
                <a:tc>
                  <a:txBody>
                    <a:bodyPr/>
                    <a:lstStyle/>
                    <a:p>
                      <a:r>
                        <a:rPr lang="en-US" sz="1100" dirty="0">
                          <a:latin typeface="Times New Roman" pitchFamily="18" charset="0"/>
                          <a:cs typeface="Times New Roman" pitchFamily="18" charset="0"/>
                        </a:rPr>
                        <a:t>Domain selection</a:t>
                      </a:r>
                    </a:p>
                  </a:txBody>
                  <a:tcPr/>
                </a:tc>
                <a:tc>
                  <a:txBody>
                    <a:bodyPr/>
                    <a:lstStyle/>
                    <a:p>
                      <a:r>
                        <a:rPr lang="en-US" sz="1100" dirty="0">
                          <a:latin typeface="Times New Roman" pitchFamily="18" charset="0"/>
                          <a:cs typeface="Times New Roman" pitchFamily="18" charset="0"/>
                        </a:rPr>
                        <a:t>Deciding the domain as ML</a:t>
                      </a:r>
                    </a:p>
                  </a:txBody>
                  <a:tcPr/>
                </a:tc>
                <a:tc>
                  <a:txBody>
                    <a:bodyPr/>
                    <a:lstStyle/>
                    <a:p>
                      <a:r>
                        <a:rPr lang="en-US" sz="1100" dirty="0"/>
                        <a:t>July</a:t>
                      </a:r>
                    </a:p>
                  </a:txBody>
                  <a:tcPr/>
                </a:tc>
                <a:extLst>
                  <a:ext uri="{0D108BD9-81ED-4DB2-BD59-A6C34878D82A}">
                    <a16:rowId xmlns:a16="http://schemas.microsoft.com/office/drawing/2014/main" val="10001"/>
                  </a:ext>
                </a:extLst>
              </a:tr>
              <a:tr h="467170">
                <a:tc>
                  <a:txBody>
                    <a:bodyPr/>
                    <a:lstStyle/>
                    <a:p>
                      <a:r>
                        <a:rPr lang="en-US" sz="1100" dirty="0">
                          <a:latin typeface="Times New Roman" pitchFamily="18" charset="0"/>
                          <a:cs typeface="Times New Roman" pitchFamily="18" charset="0"/>
                        </a:rPr>
                        <a:t>2</a:t>
                      </a:r>
                    </a:p>
                  </a:txBody>
                  <a:tcPr/>
                </a:tc>
                <a:tc>
                  <a:txBody>
                    <a:bodyPr/>
                    <a:lstStyle/>
                    <a:p>
                      <a:r>
                        <a:rPr lang="en-US" sz="1100" dirty="0">
                          <a:latin typeface="Times New Roman" pitchFamily="18" charset="0"/>
                          <a:cs typeface="Times New Roman" pitchFamily="18" charset="0"/>
                        </a:rPr>
                        <a:t>Searching key items</a:t>
                      </a:r>
                    </a:p>
                  </a:txBody>
                  <a:tcPr/>
                </a:tc>
                <a:tc>
                  <a:txBody>
                    <a:bodyPr/>
                    <a:lstStyle/>
                    <a:p>
                      <a:r>
                        <a:rPr lang="en-US" sz="1100" dirty="0">
                          <a:latin typeface="Times New Roman" pitchFamily="18" charset="0"/>
                          <a:cs typeface="Times New Roman" pitchFamily="18" charset="0"/>
                        </a:rPr>
                        <a:t>Searching the key items related domain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August</a:t>
                      </a:r>
                    </a:p>
                    <a:p>
                      <a:endParaRPr lang="en-US" sz="1100" dirty="0"/>
                    </a:p>
                  </a:txBody>
                  <a:tcPr/>
                </a:tc>
                <a:extLst>
                  <a:ext uri="{0D108BD9-81ED-4DB2-BD59-A6C34878D82A}">
                    <a16:rowId xmlns:a16="http://schemas.microsoft.com/office/drawing/2014/main" val="10002"/>
                  </a:ext>
                </a:extLst>
              </a:tr>
              <a:tr h="455521">
                <a:tc>
                  <a:txBody>
                    <a:bodyPr/>
                    <a:lstStyle/>
                    <a:p>
                      <a:r>
                        <a:rPr lang="en-US" sz="1100" dirty="0">
                          <a:latin typeface="Times New Roman" pitchFamily="18" charset="0"/>
                          <a:cs typeface="Times New Roman" pitchFamily="18" charset="0"/>
                        </a:rPr>
                        <a:t>3</a:t>
                      </a:r>
                    </a:p>
                  </a:txBody>
                  <a:tcPr/>
                </a:tc>
                <a:tc>
                  <a:txBody>
                    <a:bodyPr/>
                    <a:lstStyle/>
                    <a:p>
                      <a:r>
                        <a:rPr lang="en-US" sz="1100" dirty="0">
                          <a:latin typeface="Times New Roman" pitchFamily="18" charset="0"/>
                          <a:cs typeface="Times New Roman" pitchFamily="18" charset="0"/>
                        </a:rPr>
                        <a:t>Deciding the topic for project</a:t>
                      </a:r>
                    </a:p>
                  </a:txBody>
                  <a:tcPr/>
                </a:tc>
                <a:tc>
                  <a:txBody>
                    <a:bodyPr/>
                    <a:lstStyle/>
                    <a:p>
                      <a:r>
                        <a:rPr lang="en-US" sz="1100" b="1" dirty="0">
                          <a:latin typeface="Times New Roman" pitchFamily="18" charset="0"/>
                          <a:cs typeface="Times New Roman" pitchFamily="18" charset="0"/>
                        </a:rPr>
                        <a:t>Fake Instagram Profile Identification and Classification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t>August</a:t>
                      </a:r>
                    </a:p>
                  </a:txBody>
                  <a:tcPr/>
                </a:tc>
                <a:extLst>
                  <a:ext uri="{0D108BD9-81ED-4DB2-BD59-A6C34878D82A}">
                    <a16:rowId xmlns:a16="http://schemas.microsoft.com/office/drawing/2014/main" val="10003"/>
                  </a:ext>
                </a:extLst>
              </a:tr>
              <a:tr h="455521">
                <a:tc>
                  <a:txBody>
                    <a:bodyPr/>
                    <a:lstStyle/>
                    <a:p>
                      <a:r>
                        <a:rPr lang="en-US" sz="1100" dirty="0">
                          <a:latin typeface="Times New Roman" pitchFamily="18" charset="0"/>
                          <a:cs typeface="Times New Roman" pitchFamily="18" charset="0"/>
                        </a:rPr>
                        <a:t>4</a:t>
                      </a:r>
                    </a:p>
                  </a:txBody>
                  <a:tcPr/>
                </a:tc>
                <a:tc>
                  <a:txBody>
                    <a:bodyPr/>
                    <a:lstStyle/>
                    <a:p>
                      <a:r>
                        <a:rPr lang="en-US" sz="1100" dirty="0">
                          <a:latin typeface="Times New Roman" pitchFamily="18" charset="0"/>
                          <a:cs typeface="Times New Roman" pitchFamily="18" charset="0"/>
                        </a:rPr>
                        <a:t>Literature survey</a:t>
                      </a:r>
                    </a:p>
                  </a:txBody>
                  <a:tcPr/>
                </a:tc>
                <a:tc>
                  <a:txBody>
                    <a:bodyPr/>
                    <a:lstStyle/>
                    <a:p>
                      <a:r>
                        <a:rPr lang="en-US" sz="1100" dirty="0">
                          <a:latin typeface="Times New Roman" pitchFamily="18" charset="0"/>
                          <a:cs typeface="Times New Roman" pitchFamily="18" charset="0"/>
                        </a:rPr>
                        <a:t>Studied papers related to traffic management</a:t>
                      </a:r>
                    </a:p>
                  </a:txBody>
                  <a:tcPr/>
                </a:tc>
                <a:tc>
                  <a:txBody>
                    <a:bodyPr/>
                    <a:lstStyle/>
                    <a:p>
                      <a:endParaRPr lang="en-US" sz="1100" dirty="0"/>
                    </a:p>
                  </a:txBody>
                  <a:tcPr/>
                </a:tc>
                <a:extLst>
                  <a:ext uri="{0D108BD9-81ED-4DB2-BD59-A6C34878D82A}">
                    <a16:rowId xmlns:a16="http://schemas.microsoft.com/office/drawing/2014/main" val="10004"/>
                  </a:ext>
                </a:extLst>
              </a:tr>
              <a:tr h="290705">
                <a:tc>
                  <a:txBody>
                    <a:bodyPr/>
                    <a:lstStyle/>
                    <a:p>
                      <a:r>
                        <a:rPr lang="en-US" sz="1100" dirty="0">
                          <a:latin typeface="Times New Roman" pitchFamily="18" charset="0"/>
                          <a:cs typeface="Times New Roman" pitchFamily="18" charset="0"/>
                        </a:rPr>
                        <a:t>5</a:t>
                      </a:r>
                    </a:p>
                  </a:txBody>
                  <a:tcPr/>
                </a:tc>
                <a:tc>
                  <a:txBody>
                    <a:bodyPr/>
                    <a:lstStyle/>
                    <a:p>
                      <a:r>
                        <a:rPr lang="en-US" sz="1100" dirty="0">
                          <a:latin typeface="Times New Roman" pitchFamily="18" charset="0"/>
                          <a:cs typeface="Times New Roman" pitchFamily="18" charset="0"/>
                        </a:rPr>
                        <a:t>Problem statement</a:t>
                      </a:r>
                    </a:p>
                  </a:txBody>
                  <a:tcPr/>
                </a:tc>
                <a:tc>
                  <a:txBody>
                    <a:bodyPr/>
                    <a:lstStyle/>
                    <a:p>
                      <a:r>
                        <a:rPr lang="en-US" sz="1100" dirty="0">
                          <a:latin typeface="Times New Roman" pitchFamily="18" charset="0"/>
                          <a:cs typeface="Times New Roman" pitchFamily="18" charset="0"/>
                        </a:rPr>
                        <a:t>Making the problem statement</a:t>
                      </a:r>
                    </a:p>
                  </a:txBody>
                  <a:tcPr/>
                </a:tc>
                <a:tc>
                  <a:txBody>
                    <a:bodyPr/>
                    <a:lstStyle/>
                    <a:p>
                      <a:endParaRPr lang="en-US" sz="1100" dirty="0"/>
                    </a:p>
                  </a:txBody>
                  <a:tcPr/>
                </a:tc>
                <a:extLst>
                  <a:ext uri="{0D108BD9-81ED-4DB2-BD59-A6C34878D82A}">
                    <a16:rowId xmlns:a16="http://schemas.microsoft.com/office/drawing/2014/main" val="10005"/>
                  </a:ext>
                </a:extLst>
              </a:tr>
              <a:tr h="290705">
                <a:tc>
                  <a:txBody>
                    <a:bodyPr/>
                    <a:lstStyle/>
                    <a:p>
                      <a:r>
                        <a:rPr lang="en-US" sz="1100" dirty="0">
                          <a:latin typeface="Times New Roman" pitchFamily="18" charset="0"/>
                          <a:cs typeface="Times New Roman" pitchFamily="18" charset="0"/>
                        </a:rPr>
                        <a:t>6</a:t>
                      </a:r>
                    </a:p>
                  </a:txBody>
                  <a:tcPr/>
                </a:tc>
                <a:tc>
                  <a:txBody>
                    <a:bodyPr/>
                    <a:lstStyle/>
                    <a:p>
                      <a:r>
                        <a:rPr lang="en-US" sz="1100" dirty="0">
                          <a:latin typeface="Times New Roman" pitchFamily="18" charset="0"/>
                          <a:cs typeface="Times New Roman" pitchFamily="18" charset="0"/>
                        </a:rPr>
                        <a:t>Synopsis formation and  PPT</a:t>
                      </a:r>
                    </a:p>
                  </a:txBody>
                  <a:tcPr/>
                </a:tc>
                <a:tc>
                  <a:txBody>
                    <a:bodyPr/>
                    <a:lstStyle/>
                    <a:p>
                      <a:r>
                        <a:rPr lang="en-US" sz="1100" dirty="0">
                          <a:latin typeface="Times New Roman" pitchFamily="18" charset="0"/>
                          <a:cs typeface="Times New Roman" pitchFamily="18" charset="0"/>
                        </a:rPr>
                        <a:t>Forming synopsis and  PPT</a:t>
                      </a:r>
                    </a:p>
                  </a:txBody>
                  <a:tcPr/>
                </a:tc>
                <a:tc>
                  <a:txBody>
                    <a:bodyPr/>
                    <a:lstStyle/>
                    <a:p>
                      <a:endParaRPr lang="en-US" sz="1100" dirty="0"/>
                    </a:p>
                  </a:txBody>
                  <a:tcPr/>
                </a:tc>
                <a:extLst>
                  <a:ext uri="{0D108BD9-81ED-4DB2-BD59-A6C34878D82A}">
                    <a16:rowId xmlns:a16="http://schemas.microsoft.com/office/drawing/2014/main" val="10006"/>
                  </a:ext>
                </a:extLst>
              </a:tr>
              <a:tr h="478811">
                <a:tc>
                  <a:txBody>
                    <a:bodyPr/>
                    <a:lstStyle/>
                    <a:p>
                      <a:r>
                        <a:rPr lang="en-US" sz="1100" dirty="0">
                          <a:latin typeface="Times New Roman" pitchFamily="18" charset="0"/>
                          <a:cs typeface="Times New Roman" pitchFamily="18" charset="0"/>
                        </a:rPr>
                        <a:t>7</a:t>
                      </a:r>
                    </a:p>
                  </a:txBody>
                  <a:tcPr/>
                </a:tc>
                <a:tc>
                  <a:txBody>
                    <a:bodyPr/>
                    <a:lstStyle/>
                    <a:p>
                      <a:r>
                        <a:rPr lang="en-US" sz="1100" dirty="0">
                          <a:latin typeface="Times New Roman" pitchFamily="18" charset="0"/>
                          <a:cs typeface="Times New Roman" pitchFamily="18" charset="0"/>
                        </a:rPr>
                        <a:t>Studied existing system</a:t>
                      </a:r>
                    </a:p>
                  </a:txBody>
                  <a:tcPr/>
                </a:tc>
                <a:tc>
                  <a:txBody>
                    <a:bodyPr/>
                    <a:lstStyle/>
                    <a:p>
                      <a:r>
                        <a:rPr lang="en-US" sz="1100" dirty="0">
                          <a:latin typeface="Times New Roman" pitchFamily="18" charset="0"/>
                          <a:cs typeface="Times New Roman" pitchFamily="18" charset="0"/>
                        </a:rPr>
                        <a:t>Methodologies and working of the existing system</a:t>
                      </a:r>
                    </a:p>
                  </a:txBody>
                  <a:tcPr/>
                </a:tc>
                <a:tc>
                  <a:txBody>
                    <a:bodyPr/>
                    <a:lstStyle/>
                    <a:p>
                      <a:endParaRPr lang="en-US" sz="1100" dirty="0"/>
                    </a:p>
                  </a:txBody>
                  <a:tcPr/>
                </a:tc>
                <a:extLst>
                  <a:ext uri="{0D108BD9-81ED-4DB2-BD59-A6C34878D82A}">
                    <a16:rowId xmlns:a16="http://schemas.microsoft.com/office/drawing/2014/main" val="10007"/>
                  </a:ext>
                </a:extLst>
              </a:tr>
              <a:tr h="290705">
                <a:tc>
                  <a:txBody>
                    <a:bodyPr/>
                    <a:lstStyle/>
                    <a:p>
                      <a:r>
                        <a:rPr lang="en-US" sz="1100" dirty="0">
                          <a:latin typeface="Times New Roman" pitchFamily="18" charset="0"/>
                          <a:cs typeface="Times New Roman" pitchFamily="18" charset="0"/>
                        </a:rPr>
                        <a:t>8</a:t>
                      </a:r>
                    </a:p>
                  </a:txBody>
                  <a:tcPr/>
                </a:tc>
                <a:tc>
                  <a:txBody>
                    <a:bodyPr/>
                    <a:lstStyle/>
                    <a:p>
                      <a:r>
                        <a:rPr lang="en-US" sz="1100" dirty="0">
                          <a:latin typeface="Times New Roman" pitchFamily="18" charset="0"/>
                          <a:cs typeface="Times New Roman" pitchFamily="18" charset="0"/>
                        </a:rPr>
                        <a:t>Mathematical modelling</a:t>
                      </a:r>
                    </a:p>
                  </a:txBody>
                  <a:tcPr/>
                </a:tc>
                <a:tc>
                  <a:txBody>
                    <a:bodyPr/>
                    <a:lstStyle/>
                    <a:p>
                      <a:r>
                        <a:rPr lang="en-US" sz="1100" dirty="0">
                          <a:latin typeface="Times New Roman" pitchFamily="18" charset="0"/>
                          <a:cs typeface="Times New Roman" pitchFamily="18" charset="0"/>
                        </a:rPr>
                        <a:t>Forming of mathematical model</a:t>
                      </a:r>
                    </a:p>
                  </a:txBody>
                  <a:tcPr/>
                </a:tc>
                <a:tc>
                  <a:txBody>
                    <a:bodyPr/>
                    <a:lstStyle/>
                    <a:p>
                      <a:endParaRPr lang="en-US" sz="1100" dirty="0"/>
                    </a:p>
                  </a:txBody>
                  <a:tcPr/>
                </a:tc>
                <a:extLst>
                  <a:ext uri="{0D108BD9-81ED-4DB2-BD59-A6C34878D82A}">
                    <a16:rowId xmlns:a16="http://schemas.microsoft.com/office/drawing/2014/main" val="10008"/>
                  </a:ext>
                </a:extLst>
              </a:tr>
              <a:tr h="290705">
                <a:tc>
                  <a:txBody>
                    <a:bodyPr/>
                    <a:lstStyle/>
                    <a:p>
                      <a:r>
                        <a:rPr lang="en-US" sz="1100" dirty="0">
                          <a:latin typeface="Times New Roman" pitchFamily="18" charset="0"/>
                          <a:cs typeface="Times New Roman" pitchFamily="18" charset="0"/>
                        </a:rPr>
                        <a:t>9</a:t>
                      </a:r>
                    </a:p>
                  </a:txBody>
                  <a:tcPr/>
                </a:tc>
                <a:tc>
                  <a:txBody>
                    <a:bodyPr/>
                    <a:lstStyle/>
                    <a:p>
                      <a:r>
                        <a:rPr lang="en-US" sz="1100" dirty="0">
                          <a:latin typeface="Times New Roman" pitchFamily="18" charset="0"/>
                          <a:cs typeface="Times New Roman" pitchFamily="18" charset="0"/>
                        </a:rPr>
                        <a:t>Proposed system</a:t>
                      </a:r>
                    </a:p>
                  </a:txBody>
                  <a:tcPr/>
                </a:tc>
                <a:tc>
                  <a:txBody>
                    <a:bodyPr/>
                    <a:lstStyle/>
                    <a:p>
                      <a:r>
                        <a:rPr lang="en-US" sz="1100" dirty="0">
                          <a:latin typeface="Times New Roman" pitchFamily="18" charset="0"/>
                          <a:cs typeface="Times New Roman" pitchFamily="18" charset="0"/>
                        </a:rPr>
                        <a:t>Forming the propose of system</a:t>
                      </a:r>
                    </a:p>
                  </a:txBody>
                  <a:tcPr/>
                </a:tc>
                <a:tc>
                  <a:txBody>
                    <a:bodyPr/>
                    <a:lstStyle/>
                    <a:p>
                      <a:endParaRPr lang="en-US" sz="1100" dirty="0"/>
                    </a:p>
                  </a:txBody>
                  <a:tcPr/>
                </a:tc>
                <a:extLst>
                  <a:ext uri="{0D108BD9-81ED-4DB2-BD59-A6C34878D82A}">
                    <a16:rowId xmlns:a16="http://schemas.microsoft.com/office/drawing/2014/main" val="10009"/>
                  </a:ext>
                </a:extLst>
              </a:tr>
              <a:tr h="290705">
                <a:tc>
                  <a:txBody>
                    <a:bodyPr/>
                    <a:lstStyle/>
                    <a:p>
                      <a:r>
                        <a:rPr lang="en-US" sz="1100" dirty="0">
                          <a:latin typeface="Times New Roman" pitchFamily="18" charset="0"/>
                          <a:cs typeface="Times New Roman" pitchFamily="18" charset="0"/>
                        </a:rPr>
                        <a:t>10</a:t>
                      </a:r>
                    </a:p>
                  </a:txBody>
                  <a:tcPr/>
                </a:tc>
                <a:tc>
                  <a:txBody>
                    <a:bodyPr/>
                    <a:lstStyle/>
                    <a:p>
                      <a:r>
                        <a:rPr lang="en-US" sz="1100" dirty="0">
                          <a:latin typeface="Times New Roman" pitchFamily="18" charset="0"/>
                          <a:cs typeface="Times New Roman" pitchFamily="18" charset="0"/>
                        </a:rPr>
                        <a:t>Existing system</a:t>
                      </a:r>
                    </a:p>
                  </a:txBody>
                  <a:tcPr/>
                </a:tc>
                <a:tc>
                  <a:txBody>
                    <a:bodyPr/>
                    <a:lstStyle/>
                    <a:p>
                      <a:r>
                        <a:rPr lang="en-US" sz="1100" dirty="0">
                          <a:latin typeface="Times New Roman" pitchFamily="18" charset="0"/>
                          <a:cs typeface="Times New Roman" pitchFamily="18" charset="0"/>
                        </a:rPr>
                        <a:t>Forming of existing model</a:t>
                      </a:r>
                    </a:p>
                  </a:txBody>
                  <a:tcPr/>
                </a:tc>
                <a:tc>
                  <a:txBody>
                    <a:bodyPr/>
                    <a:lstStyle/>
                    <a:p>
                      <a:endParaRPr lang="en-US" sz="1100" dirty="0"/>
                    </a:p>
                  </a:txBody>
                  <a:tcPr/>
                </a:tc>
                <a:extLst>
                  <a:ext uri="{0D108BD9-81ED-4DB2-BD59-A6C34878D82A}">
                    <a16:rowId xmlns:a16="http://schemas.microsoft.com/office/drawing/2014/main" val="10010"/>
                  </a:ext>
                </a:extLst>
              </a:tr>
              <a:tr h="290705">
                <a:tc>
                  <a:txBody>
                    <a:bodyPr/>
                    <a:lstStyle/>
                    <a:p>
                      <a:r>
                        <a:rPr lang="en-US" sz="1100" dirty="0">
                          <a:latin typeface="Times New Roman" pitchFamily="18" charset="0"/>
                          <a:cs typeface="Times New Roman" pitchFamily="18" charset="0"/>
                        </a:rPr>
                        <a:t>11</a:t>
                      </a:r>
                    </a:p>
                  </a:txBody>
                  <a:tcPr/>
                </a:tc>
                <a:tc>
                  <a:txBody>
                    <a:bodyPr/>
                    <a:lstStyle/>
                    <a:p>
                      <a:r>
                        <a:rPr lang="en-US" sz="1100" dirty="0">
                          <a:latin typeface="Times New Roman" pitchFamily="18" charset="0"/>
                          <a:cs typeface="Times New Roman" pitchFamily="18" charset="0"/>
                        </a:rPr>
                        <a:t>testing</a:t>
                      </a:r>
                    </a:p>
                  </a:txBody>
                  <a:tcPr/>
                </a:tc>
                <a:tc>
                  <a:txBody>
                    <a:bodyPr/>
                    <a:lstStyle/>
                    <a:p>
                      <a:endParaRPr lang="en-US" sz="1100" dirty="0">
                        <a:latin typeface="Times New Roman" pitchFamily="18" charset="0"/>
                        <a:cs typeface="Times New Roman" pitchFamily="18" charset="0"/>
                      </a:endParaRPr>
                    </a:p>
                  </a:txBody>
                  <a:tcPr/>
                </a:tc>
                <a:tc>
                  <a:txBody>
                    <a:bodyPr/>
                    <a:lstStyle/>
                    <a:p>
                      <a:endParaRPr lang="en-US" sz="1100" dirty="0"/>
                    </a:p>
                  </a:txBody>
                  <a:tcPr/>
                </a:tc>
                <a:extLst>
                  <a:ext uri="{0D108BD9-81ED-4DB2-BD59-A6C34878D82A}">
                    <a16:rowId xmlns:a16="http://schemas.microsoft.com/office/drawing/2014/main" val="10011"/>
                  </a:ext>
                </a:extLst>
              </a:tr>
              <a:tr h="290705">
                <a:tc>
                  <a:txBody>
                    <a:bodyPr/>
                    <a:lstStyle/>
                    <a:p>
                      <a:r>
                        <a:rPr lang="en-US" sz="1100" dirty="0">
                          <a:latin typeface="Times New Roman" pitchFamily="18" charset="0"/>
                          <a:cs typeface="Times New Roman" pitchFamily="18" charset="0"/>
                        </a:rPr>
                        <a:t>12</a:t>
                      </a:r>
                    </a:p>
                  </a:txBody>
                  <a:tcPr/>
                </a:tc>
                <a:tc>
                  <a:txBody>
                    <a:bodyPr/>
                    <a:lstStyle/>
                    <a:p>
                      <a:r>
                        <a:rPr lang="en-US" sz="1100" dirty="0">
                          <a:latin typeface="Times New Roman" pitchFamily="18" charset="0"/>
                          <a:cs typeface="Times New Roman" pitchFamily="18" charset="0"/>
                        </a:rPr>
                        <a:t>Data analysis </a:t>
                      </a:r>
                    </a:p>
                  </a:txBody>
                  <a:tcPr/>
                </a:tc>
                <a:tc>
                  <a:txBody>
                    <a:bodyPr/>
                    <a:lstStyle/>
                    <a:p>
                      <a:endParaRPr lang="en-US" sz="1100" dirty="0">
                        <a:latin typeface="Times New Roman" pitchFamily="18" charset="0"/>
                        <a:cs typeface="Times New Roman" pitchFamily="18" charset="0"/>
                      </a:endParaRPr>
                    </a:p>
                  </a:txBody>
                  <a:tcPr/>
                </a:tc>
                <a:tc>
                  <a:txBody>
                    <a:bodyPr/>
                    <a:lstStyle/>
                    <a:p>
                      <a:endParaRPr lang="en-US" sz="1100" dirty="0"/>
                    </a:p>
                  </a:txBody>
                  <a:tcPr/>
                </a:tc>
                <a:extLst>
                  <a:ext uri="{0D108BD9-81ED-4DB2-BD59-A6C34878D82A}">
                    <a16:rowId xmlns:a16="http://schemas.microsoft.com/office/drawing/2014/main" val="10012"/>
                  </a:ext>
                </a:extLst>
              </a:tr>
              <a:tr h="290705">
                <a:tc>
                  <a:txBody>
                    <a:bodyPr/>
                    <a:lstStyle/>
                    <a:p>
                      <a:r>
                        <a:rPr lang="en-US" sz="1100" dirty="0">
                          <a:latin typeface="Times New Roman" pitchFamily="18" charset="0"/>
                          <a:cs typeface="Times New Roman" pitchFamily="18" charset="0"/>
                        </a:rPr>
                        <a:t>13</a:t>
                      </a:r>
                    </a:p>
                  </a:txBody>
                  <a:tcPr/>
                </a:tc>
                <a:tc>
                  <a:txBody>
                    <a:bodyPr/>
                    <a:lstStyle/>
                    <a:p>
                      <a:r>
                        <a:rPr lang="en-US" sz="1100" dirty="0">
                          <a:latin typeface="Times New Roman" pitchFamily="18" charset="0"/>
                          <a:cs typeface="Times New Roman" pitchFamily="18" charset="0"/>
                        </a:rPr>
                        <a:t>Conclusion and future work</a:t>
                      </a:r>
                    </a:p>
                  </a:txBody>
                  <a:tcPr/>
                </a:tc>
                <a:tc>
                  <a:txBody>
                    <a:bodyPr/>
                    <a:lstStyle/>
                    <a:p>
                      <a:endParaRPr lang="en-US" sz="1100" dirty="0">
                        <a:latin typeface="Times New Roman" pitchFamily="18" charset="0"/>
                        <a:cs typeface="Times New Roman" pitchFamily="18" charset="0"/>
                      </a:endParaRPr>
                    </a:p>
                  </a:txBody>
                  <a:tcPr/>
                </a:tc>
                <a:tc>
                  <a:txBody>
                    <a:bodyPr/>
                    <a:lstStyle/>
                    <a:p>
                      <a:endParaRPr lang="en-US" sz="1100" dirty="0"/>
                    </a:p>
                  </a:txBody>
                  <a:tcPr/>
                </a:tc>
                <a:extLst>
                  <a:ext uri="{0D108BD9-81ED-4DB2-BD59-A6C34878D82A}">
                    <a16:rowId xmlns:a16="http://schemas.microsoft.com/office/drawing/2014/main" val="10013"/>
                  </a:ext>
                </a:extLst>
              </a:tr>
              <a:tr h="290705">
                <a:tc>
                  <a:txBody>
                    <a:bodyPr/>
                    <a:lstStyle/>
                    <a:p>
                      <a:r>
                        <a:rPr lang="en-US" sz="1100" dirty="0">
                          <a:latin typeface="Times New Roman" pitchFamily="18" charset="0"/>
                          <a:cs typeface="Times New Roman" pitchFamily="18" charset="0"/>
                        </a:rPr>
                        <a:t>14</a:t>
                      </a:r>
                    </a:p>
                  </a:txBody>
                  <a:tcPr/>
                </a:tc>
                <a:tc>
                  <a:txBody>
                    <a:bodyPr/>
                    <a:lstStyle/>
                    <a:p>
                      <a:r>
                        <a:rPr lang="en-US" sz="1100" dirty="0">
                          <a:latin typeface="Times New Roman" pitchFamily="18" charset="0"/>
                          <a:cs typeface="Times New Roman" pitchFamily="18" charset="0"/>
                        </a:rPr>
                        <a:t>Report generation</a:t>
                      </a:r>
                    </a:p>
                  </a:txBody>
                  <a:tcPr/>
                </a:tc>
                <a:tc>
                  <a:txBody>
                    <a:bodyPr/>
                    <a:lstStyle/>
                    <a:p>
                      <a:endParaRPr lang="en-US" sz="1100" dirty="0">
                        <a:latin typeface="Times New Roman" pitchFamily="18" charset="0"/>
                        <a:cs typeface="Times New Roman" pitchFamily="18" charset="0"/>
                      </a:endParaRPr>
                    </a:p>
                  </a:txBody>
                  <a:tcPr/>
                </a:tc>
                <a:tc>
                  <a:txBody>
                    <a:bodyPr/>
                    <a:lstStyle/>
                    <a:p>
                      <a:endParaRPr lang="en-US" sz="1100" dirty="0"/>
                    </a:p>
                  </a:txBody>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34135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9610-F72B-A4B6-5353-AE8D954C8467}"/>
              </a:ext>
            </a:extLst>
          </p:cNvPr>
          <p:cNvSpPr>
            <a:spLocks noGrp="1"/>
          </p:cNvSpPr>
          <p:nvPr>
            <p:ph type="title"/>
          </p:nvPr>
        </p:nvSpPr>
        <p:spPr>
          <a:xfrm>
            <a:off x="548640" y="145625"/>
            <a:ext cx="9875520" cy="1273387"/>
          </a:xfrm>
          <a:solidFill>
            <a:schemeClr val="accent1"/>
          </a:solidFill>
        </p:spPr>
        <p:txBody>
          <a:bodyPr>
            <a:noAutofit/>
          </a:bodyPr>
          <a:lstStyle/>
          <a:p>
            <a:pPr lvl="0"/>
            <a:r>
              <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Assumptions and Dependencies</a:t>
            </a:r>
          </a:p>
        </p:txBody>
      </p:sp>
      <p:sp>
        <p:nvSpPr>
          <p:cNvPr id="5" name="Slide Number Placeholder 4">
            <a:extLst>
              <a:ext uri="{FF2B5EF4-FFF2-40B4-BE49-F238E27FC236}">
                <a16:creationId xmlns:a16="http://schemas.microsoft.com/office/drawing/2014/main" id="{0BE163B6-AFD2-A88B-D03E-B6EE2568A426}"/>
              </a:ext>
            </a:extLst>
          </p:cNvPr>
          <p:cNvSpPr>
            <a:spLocks noGrp="1"/>
          </p:cNvSpPr>
          <p:nvPr>
            <p:ph type="sldNum" sz="quarter" idx="12"/>
          </p:nvPr>
        </p:nvSpPr>
        <p:spPr/>
        <p:txBody>
          <a:bodyPr/>
          <a:lstStyle/>
          <a:p>
            <a:fld id="{B6F15528-21DE-4FAA-801E-634DDDAF4B2B}" type="slidenum">
              <a:rPr lang="en-US" smtClean="0"/>
              <a:pPr/>
              <a:t>12</a:t>
            </a:fld>
            <a:endParaRPr lang="en-US" dirty="0"/>
          </a:p>
        </p:txBody>
      </p:sp>
      <p:sp>
        <p:nvSpPr>
          <p:cNvPr id="8" name="TextBox 7">
            <a:extLst>
              <a:ext uri="{FF2B5EF4-FFF2-40B4-BE49-F238E27FC236}">
                <a16:creationId xmlns:a16="http://schemas.microsoft.com/office/drawing/2014/main" id="{83A7CF41-846B-265C-D542-CCCB4A14B9E2}"/>
              </a:ext>
            </a:extLst>
          </p:cNvPr>
          <p:cNvSpPr txBox="1"/>
          <p:nvPr/>
        </p:nvSpPr>
        <p:spPr>
          <a:xfrm>
            <a:off x="592531" y="1554319"/>
            <a:ext cx="9831629" cy="5115311"/>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000" b="1" i="0" dirty="0">
                <a:effectLst/>
                <a:latin typeface="Times New Roman" panose="02020603050405020304" pitchFamily="18" charset="0"/>
                <a:cs typeface="Times New Roman" panose="02020603050405020304" pitchFamily="18" charset="0"/>
              </a:rPr>
              <a:t>Assumptions :</a:t>
            </a:r>
          </a:p>
          <a:p>
            <a:pPr marL="701675"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collected data is of reasonable quality and does not contain significant noise or biases that could adversely affect the model's performance.</a:t>
            </a:r>
          </a:p>
          <a:p>
            <a:pPr marL="701675"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selected features for profile analysis are assumed to be relevant for fake profile detection and classification. </a:t>
            </a:r>
          </a:p>
          <a:p>
            <a:pPr marL="358775" indent="-358775" algn="just">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Dependencies :</a:t>
            </a:r>
          </a:p>
          <a:p>
            <a:pPr marL="701675"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depends on the availability of a suitable dataset of Instagram profiles. </a:t>
            </a:r>
          </a:p>
          <a:p>
            <a:pPr marL="701675"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depends on successfully training machine learning models using the collected data. </a:t>
            </a:r>
          </a:p>
          <a:p>
            <a:pPr marL="701675"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Any changes in data privacy regulations or Instagram's policies may impact the project's execution and deployment.</a:t>
            </a:r>
          </a:p>
        </p:txBody>
      </p:sp>
    </p:spTree>
    <p:extLst>
      <p:ext uri="{BB962C8B-B14F-4D97-AF65-F5344CB8AC3E}">
        <p14:creationId xmlns:p14="http://schemas.microsoft.com/office/powerpoint/2010/main" val="1949659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9610-F72B-A4B6-5353-AE8D954C8467}"/>
              </a:ext>
            </a:extLst>
          </p:cNvPr>
          <p:cNvSpPr>
            <a:spLocks noGrp="1"/>
          </p:cNvSpPr>
          <p:nvPr>
            <p:ph type="title"/>
          </p:nvPr>
        </p:nvSpPr>
        <p:spPr>
          <a:xfrm>
            <a:off x="548640" y="145625"/>
            <a:ext cx="9875520" cy="1273387"/>
          </a:xfrm>
          <a:solidFill>
            <a:schemeClr val="accent1"/>
          </a:solidFill>
        </p:spPr>
        <p:txBody>
          <a:bodyPr>
            <a:normAutofit fontScale="90000"/>
          </a:bodyPr>
          <a:lstStyle/>
          <a:p>
            <a:r>
              <a:rPr lang="en-US" sz="5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Architecture of Project</a:t>
            </a:r>
            <a:endParaRPr lang="en-US" dirty="0">
              <a:solidFill>
                <a:schemeClr val="bg1"/>
              </a:solidFill>
            </a:endParaRPr>
          </a:p>
        </p:txBody>
      </p:sp>
      <p:sp>
        <p:nvSpPr>
          <p:cNvPr id="5" name="Slide Number Placeholder 4">
            <a:extLst>
              <a:ext uri="{FF2B5EF4-FFF2-40B4-BE49-F238E27FC236}">
                <a16:creationId xmlns:a16="http://schemas.microsoft.com/office/drawing/2014/main" id="{0BE163B6-AFD2-A88B-D03E-B6EE2568A426}"/>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6" name="TextBox 5">
            <a:extLst>
              <a:ext uri="{FF2B5EF4-FFF2-40B4-BE49-F238E27FC236}">
                <a16:creationId xmlns:a16="http://schemas.microsoft.com/office/drawing/2014/main" id="{907022C3-C6B7-639B-0767-51E32206DC77}"/>
              </a:ext>
            </a:extLst>
          </p:cNvPr>
          <p:cNvSpPr txBox="1"/>
          <p:nvPr/>
        </p:nvSpPr>
        <p:spPr>
          <a:xfrm>
            <a:off x="3954780" y="6922080"/>
            <a:ext cx="5257800" cy="415498"/>
          </a:xfrm>
          <a:prstGeom prst="rect">
            <a:avLst/>
          </a:prstGeom>
          <a:noFill/>
        </p:spPr>
        <p:txBody>
          <a:bodyPr wrap="square" rtlCol="0">
            <a:spAutoFit/>
          </a:bodyPr>
          <a:lstStyle/>
          <a:p>
            <a:r>
              <a:rPr lang="en-US" dirty="0"/>
              <a:t>Fig : - System architecture</a:t>
            </a:r>
          </a:p>
        </p:txBody>
      </p:sp>
      <p:pic>
        <p:nvPicPr>
          <p:cNvPr id="3" name="Picture 2">
            <a:extLst>
              <a:ext uri="{FF2B5EF4-FFF2-40B4-BE49-F238E27FC236}">
                <a16:creationId xmlns:a16="http://schemas.microsoft.com/office/drawing/2014/main" id="{C1051CCC-8848-A13B-B063-6B5D14C87D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1969276"/>
            <a:ext cx="7772400" cy="4228892"/>
          </a:xfrm>
          <a:prstGeom prst="rect">
            <a:avLst/>
          </a:prstGeom>
          <a:ln>
            <a:solidFill>
              <a:schemeClr val="tx1"/>
            </a:solidFill>
          </a:ln>
        </p:spPr>
      </p:pic>
    </p:spTree>
    <p:extLst>
      <p:ext uri="{BB962C8B-B14F-4D97-AF65-F5344CB8AC3E}">
        <p14:creationId xmlns:p14="http://schemas.microsoft.com/office/powerpoint/2010/main" val="1233018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D2BE-F6EA-AF97-B2AE-F7C9B31B3B80}"/>
              </a:ext>
            </a:extLst>
          </p:cNvPr>
          <p:cNvSpPr>
            <a:spLocks noGrp="1"/>
          </p:cNvSpPr>
          <p:nvPr>
            <p:ph type="title"/>
          </p:nvPr>
        </p:nvSpPr>
        <p:spPr>
          <a:xfrm>
            <a:off x="822960" y="516941"/>
            <a:ext cx="9326880" cy="1235659"/>
          </a:xfrm>
        </p:spPr>
        <p:style>
          <a:lnRef idx="3">
            <a:schemeClr val="lt1"/>
          </a:lnRef>
          <a:fillRef idx="1">
            <a:schemeClr val="accent1"/>
          </a:fillRef>
          <a:effectRef idx="1">
            <a:schemeClr val="accent1"/>
          </a:effectRef>
          <a:fontRef idx="minor">
            <a:schemeClr val="lt1"/>
          </a:fontRef>
        </p:style>
        <p:txBody>
          <a:bodyPr vert="horz" lIns="104493" tIns="52247" rIns="104493" bIns="52247" rtlCol="0" anchor="ctr">
            <a:normAutofit/>
          </a:bodyPr>
          <a:lstStyle/>
          <a:p>
            <a:r>
              <a:rPr lang="en-IN" sz="4800" b="1" dirty="0">
                <a:solidFill>
                  <a:schemeClr val="lt1"/>
                </a:solidFill>
                <a:latin typeface="Times New Roman" panose="02020603050405020304" pitchFamily="18" charset="0"/>
                <a:ea typeface="+mn-ea"/>
                <a:cs typeface="Times New Roman" panose="02020603050405020304" pitchFamily="18" charset="0"/>
              </a:rPr>
              <a:t>Mathematical Model</a:t>
            </a:r>
          </a:p>
        </p:txBody>
      </p:sp>
      <p:sp>
        <p:nvSpPr>
          <p:cNvPr id="3" name="Content Placeholder 2">
            <a:extLst>
              <a:ext uri="{FF2B5EF4-FFF2-40B4-BE49-F238E27FC236}">
                <a16:creationId xmlns:a16="http://schemas.microsoft.com/office/drawing/2014/main" id="{E6A298B6-5701-0CD8-87E1-08293B4C3656}"/>
              </a:ext>
            </a:extLst>
          </p:cNvPr>
          <p:cNvSpPr>
            <a:spLocks noGrp="1"/>
          </p:cNvSpPr>
          <p:nvPr>
            <p:ph idx="1"/>
          </p:nvPr>
        </p:nvSpPr>
        <p:spPr/>
        <p:txBody>
          <a:bodyPr>
            <a:normAutofit fontScale="62500" lnSpcReduction="20000"/>
          </a:bodyPr>
          <a:lstStyle/>
          <a:p>
            <a:pPr marL="342900" indent="-342900">
              <a:buFont typeface="Arial" pitchFamily="34" charset="0"/>
              <a:buChar char="•"/>
            </a:pPr>
            <a:r>
              <a:rPr lang="en-IN" sz="4000" dirty="0">
                <a:latin typeface="Times New Roman" pitchFamily="18" charset="0"/>
                <a:cs typeface="Times New Roman" pitchFamily="18" charset="0"/>
              </a:rPr>
              <a:t>Let S be the Whole system S= I,P,O</a:t>
            </a:r>
          </a:p>
          <a:p>
            <a:pPr marL="342900" indent="-342900">
              <a:buFont typeface="Arial" pitchFamily="34" charset="0"/>
              <a:buChar char="•"/>
            </a:pPr>
            <a:r>
              <a:rPr lang="en-IN" sz="4000" dirty="0">
                <a:latin typeface="Times New Roman" pitchFamily="18" charset="0"/>
                <a:cs typeface="Times New Roman" pitchFamily="18" charset="0"/>
              </a:rPr>
              <a:t>I-input</a:t>
            </a:r>
          </a:p>
          <a:p>
            <a:pPr marL="342900" indent="-342900">
              <a:buFont typeface="Arial" pitchFamily="34" charset="0"/>
              <a:buChar char="•"/>
            </a:pPr>
            <a:r>
              <a:rPr lang="en-IN" sz="4000" dirty="0">
                <a:latin typeface="Times New Roman" pitchFamily="18" charset="0"/>
                <a:cs typeface="Times New Roman" pitchFamily="18" charset="0"/>
              </a:rPr>
              <a:t>P-procedure</a:t>
            </a:r>
          </a:p>
          <a:p>
            <a:pPr marL="342900" indent="-342900">
              <a:buFont typeface="Arial" pitchFamily="34" charset="0"/>
              <a:buChar char="•"/>
            </a:pPr>
            <a:r>
              <a:rPr lang="en-IN" sz="4000" dirty="0">
                <a:latin typeface="Times New Roman" pitchFamily="18" charset="0"/>
                <a:cs typeface="Times New Roman" pitchFamily="18" charset="0"/>
              </a:rPr>
              <a:t>O-output</a:t>
            </a:r>
          </a:p>
          <a:p>
            <a:pPr marL="342900" indent="-342900">
              <a:buFont typeface="Arial" pitchFamily="34" charset="0"/>
              <a:buChar char="•"/>
            </a:pPr>
            <a:r>
              <a:rPr lang="en-IN" sz="4000" dirty="0">
                <a:latin typeface="Times New Roman" pitchFamily="18" charset="0"/>
                <a:cs typeface="Times New Roman" pitchFamily="18" charset="0"/>
              </a:rPr>
              <a:t>Input( I)</a:t>
            </a:r>
          </a:p>
          <a:p>
            <a:pPr marL="342900" indent="-342900">
              <a:buFont typeface="Arial" pitchFamily="34" charset="0"/>
              <a:buChar char="•"/>
            </a:pPr>
            <a:r>
              <a:rPr lang="en-IN" sz="4000" dirty="0">
                <a:latin typeface="Times New Roman" pitchFamily="18" charset="0"/>
                <a:cs typeface="Times New Roman" pitchFamily="18" charset="0"/>
              </a:rPr>
              <a:t>I=Text</a:t>
            </a:r>
          </a:p>
          <a:p>
            <a:pPr marL="342900" indent="-342900">
              <a:buFont typeface="Arial" pitchFamily="34" charset="0"/>
              <a:buChar char="•"/>
            </a:pPr>
            <a:r>
              <a:rPr lang="en-IN" sz="4000" dirty="0">
                <a:latin typeface="Times New Roman" pitchFamily="18" charset="0"/>
                <a:cs typeface="Times New Roman" pitchFamily="18" charset="0"/>
              </a:rPr>
              <a:t>Where,</a:t>
            </a:r>
          </a:p>
          <a:p>
            <a:pPr marL="342900" indent="-342900">
              <a:buFont typeface="Arial" pitchFamily="34" charset="0"/>
              <a:buChar char="•"/>
            </a:pPr>
            <a:r>
              <a:rPr lang="en-IN" sz="4000" dirty="0">
                <a:latin typeface="Times New Roman" pitchFamily="18" charset="0"/>
                <a:cs typeface="Times New Roman" pitchFamily="18" charset="0"/>
              </a:rPr>
              <a:t>Dataset- Image dataset Using SVM/RF Algorithm</a:t>
            </a:r>
          </a:p>
          <a:p>
            <a:pPr marL="342900" indent="-342900">
              <a:buFont typeface="Arial" pitchFamily="34" charset="0"/>
              <a:buChar char="•"/>
            </a:pPr>
            <a:r>
              <a:rPr lang="en-IN" sz="4000" dirty="0">
                <a:latin typeface="Times New Roman" pitchFamily="18" charset="0"/>
                <a:cs typeface="Times New Roman" pitchFamily="18" charset="0"/>
              </a:rPr>
              <a:t>Procedure (P),</a:t>
            </a:r>
          </a:p>
          <a:p>
            <a:pPr marL="342900" indent="-342900">
              <a:buFont typeface="Arial" pitchFamily="34" charset="0"/>
              <a:buChar char="•"/>
            </a:pPr>
            <a:r>
              <a:rPr lang="en-IN" sz="4000" dirty="0">
                <a:latin typeface="Times New Roman" pitchFamily="18" charset="0"/>
                <a:cs typeface="Times New Roman" pitchFamily="18" charset="0"/>
              </a:rPr>
              <a:t>P=I, Using I System Detect Fake Instagram profile</a:t>
            </a:r>
          </a:p>
          <a:p>
            <a:endParaRPr lang="en-IN" dirty="0"/>
          </a:p>
        </p:txBody>
      </p:sp>
      <p:sp>
        <p:nvSpPr>
          <p:cNvPr id="4" name="Footer Placeholder 3">
            <a:extLst>
              <a:ext uri="{FF2B5EF4-FFF2-40B4-BE49-F238E27FC236}">
                <a16:creationId xmlns:a16="http://schemas.microsoft.com/office/drawing/2014/main" id="{C76FB743-6F67-EFD4-B1EB-96C49E62B624}"/>
              </a:ext>
            </a:extLst>
          </p:cNvPr>
          <p:cNvSpPr>
            <a:spLocks noGrp="1"/>
          </p:cNvSpPr>
          <p:nvPr>
            <p:ph type="ftr" sz="quarter" idx="11"/>
          </p:nvPr>
        </p:nvSpPr>
        <p:spPr/>
        <p:txBody>
          <a:bodyPr/>
          <a:lstStyle/>
          <a:p>
            <a:r>
              <a:rPr lang="en-US"/>
              <a:t>Project Title Goes here</a:t>
            </a:r>
            <a:endParaRPr lang="en-US" dirty="0"/>
          </a:p>
        </p:txBody>
      </p:sp>
      <p:sp>
        <p:nvSpPr>
          <p:cNvPr id="5" name="Slide Number Placeholder 4">
            <a:extLst>
              <a:ext uri="{FF2B5EF4-FFF2-40B4-BE49-F238E27FC236}">
                <a16:creationId xmlns:a16="http://schemas.microsoft.com/office/drawing/2014/main" id="{2CC2A8C5-AA0F-63B9-76B1-51E5B4029D04}"/>
              </a:ext>
            </a:extLst>
          </p:cNvPr>
          <p:cNvSpPr>
            <a:spLocks noGrp="1"/>
          </p:cNvSpPr>
          <p:nvPr>
            <p:ph type="sldNum" sz="quarter" idx="12"/>
          </p:nvPr>
        </p:nvSpPr>
        <p:spPr/>
        <p:txBody>
          <a:bodyPr/>
          <a:lstStyle/>
          <a:p>
            <a:fld id="{B6F15528-21DE-4FAA-801E-634DDDAF4B2B}" type="slidenum">
              <a:rPr lang="en-US" smtClean="0"/>
              <a:pPr/>
              <a:t>14</a:t>
            </a:fld>
            <a:endParaRPr lang="en-US" dirty="0"/>
          </a:p>
        </p:txBody>
      </p:sp>
    </p:spTree>
    <p:extLst>
      <p:ext uri="{BB962C8B-B14F-4D97-AF65-F5344CB8AC3E}">
        <p14:creationId xmlns:p14="http://schemas.microsoft.com/office/powerpoint/2010/main" val="1661999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D2BE-F6EA-AF97-B2AE-F7C9B31B3B80}"/>
              </a:ext>
            </a:extLst>
          </p:cNvPr>
          <p:cNvSpPr>
            <a:spLocks noGrp="1"/>
          </p:cNvSpPr>
          <p:nvPr>
            <p:ph type="title"/>
          </p:nvPr>
        </p:nvSpPr>
        <p:spPr>
          <a:xfrm>
            <a:off x="822960" y="370114"/>
            <a:ext cx="9326880" cy="1007059"/>
          </a:xfrm>
        </p:spPr>
        <p:style>
          <a:lnRef idx="3">
            <a:schemeClr val="lt1"/>
          </a:lnRef>
          <a:fillRef idx="1">
            <a:schemeClr val="accent1"/>
          </a:fillRef>
          <a:effectRef idx="1">
            <a:schemeClr val="accent1"/>
          </a:effectRef>
          <a:fontRef idx="minor">
            <a:schemeClr val="lt1"/>
          </a:fontRef>
        </p:style>
        <p:txBody>
          <a:bodyPr vert="horz" lIns="104493" tIns="52247" rIns="104493" bIns="52247" rtlCol="0" anchor="ctr">
            <a:normAutofit/>
          </a:bodyPr>
          <a:lstStyle/>
          <a:p>
            <a:r>
              <a:rPr lang="en-IN" sz="4800" b="1" dirty="0">
                <a:solidFill>
                  <a:schemeClr val="lt1"/>
                </a:solidFill>
                <a:latin typeface="Times New Roman" panose="02020603050405020304" pitchFamily="18" charset="0"/>
                <a:ea typeface="+mn-ea"/>
                <a:cs typeface="Times New Roman" panose="02020603050405020304" pitchFamily="18" charset="0"/>
              </a:rPr>
              <a:t>Algorithm </a:t>
            </a:r>
          </a:p>
        </p:txBody>
      </p:sp>
      <p:sp>
        <p:nvSpPr>
          <p:cNvPr id="5" name="Slide Number Placeholder 4">
            <a:extLst>
              <a:ext uri="{FF2B5EF4-FFF2-40B4-BE49-F238E27FC236}">
                <a16:creationId xmlns:a16="http://schemas.microsoft.com/office/drawing/2014/main" id="{2CC2A8C5-AA0F-63B9-76B1-51E5B4029D04}"/>
              </a:ext>
            </a:extLst>
          </p:cNvPr>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TextBox 6">
            <a:extLst>
              <a:ext uri="{FF2B5EF4-FFF2-40B4-BE49-F238E27FC236}">
                <a16:creationId xmlns:a16="http://schemas.microsoft.com/office/drawing/2014/main" id="{2A136300-31D4-20E4-984E-9E3576254CA1}"/>
              </a:ext>
            </a:extLst>
          </p:cNvPr>
          <p:cNvSpPr txBox="1"/>
          <p:nvPr/>
        </p:nvSpPr>
        <p:spPr>
          <a:xfrm>
            <a:off x="853135" y="1582752"/>
            <a:ext cx="9326880" cy="5081135"/>
          </a:xfrm>
          <a:prstGeom prst="rect">
            <a:avLst/>
          </a:prstGeom>
          <a:noFill/>
        </p:spPr>
        <p:txBody>
          <a:bodyPr wrap="square">
            <a:spAutoFit/>
          </a:bodyPr>
          <a:lstStyle/>
          <a:p>
            <a:pPr marL="358775" indent="-358775" algn="just">
              <a:lnSpc>
                <a:spcPct val="150000"/>
              </a:lnSpc>
              <a:spcAft>
                <a:spcPts val="800"/>
              </a:spcAft>
              <a:buFont typeface="Wingdings" panose="05000000000000000000" pitchFamily="2" charset="2"/>
              <a:buChar char="q"/>
            </a:pP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Random Forest:</a:t>
            </a:r>
            <a:endParaRPr lang="en-IN"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RF is an ensemble learning method that combines multiple decision trees to make predictions.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RF can capture these non-linear relationships effectively.</a:t>
            </a: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RF tends to produce stable and consistent results across different runs and datasets, which is important in healthcare where reproducibility is critical.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Step 1: Importing and processing the data.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Step 2: Training the random forest classifier.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Step 3: Testing the prediction accuracy.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Step 4: Visualizing the results of the classifier.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4490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0FB885-5CF4-B9A5-E183-50F70F94F9CD}"/>
              </a:ext>
            </a:extLst>
          </p:cNvPr>
          <p:cNvSpPr>
            <a:spLocks noGrp="1"/>
          </p:cNvSpPr>
          <p:nvPr>
            <p:ph type="sldNum" sz="quarter" idx="12"/>
          </p:nvPr>
        </p:nvSpPr>
        <p:spPr/>
        <p:txBody>
          <a:bodyPr/>
          <a:lstStyle/>
          <a:p>
            <a:fld id="{B6F15528-21DE-4FAA-801E-634DDDAF4B2B}" type="slidenum">
              <a:rPr lang="en-US" smtClean="0"/>
              <a:pPr/>
              <a:t>16</a:t>
            </a:fld>
            <a:endParaRPr lang="en-US" dirty="0"/>
          </a:p>
        </p:txBody>
      </p:sp>
      <p:sp>
        <p:nvSpPr>
          <p:cNvPr id="4" name="Title 1">
            <a:extLst>
              <a:ext uri="{FF2B5EF4-FFF2-40B4-BE49-F238E27FC236}">
                <a16:creationId xmlns:a16="http://schemas.microsoft.com/office/drawing/2014/main" id="{93E2A49E-6B61-530A-983D-88C5E51FDDBC}"/>
              </a:ext>
            </a:extLst>
          </p:cNvPr>
          <p:cNvSpPr txBox="1">
            <a:spLocks/>
          </p:cNvSpPr>
          <p:nvPr/>
        </p:nvSpPr>
        <p:spPr>
          <a:xfrm>
            <a:off x="549275" y="99906"/>
            <a:ext cx="9874250" cy="1219200"/>
          </a:xfrm>
          <a:prstGeom prst="rect">
            <a:avLst/>
          </a:prstGeom>
        </p:spPr>
        <p:style>
          <a:lnRef idx="3">
            <a:schemeClr val="lt1"/>
          </a:lnRef>
          <a:fillRef idx="1">
            <a:schemeClr val="accent1"/>
          </a:fillRef>
          <a:effectRef idx="1">
            <a:schemeClr val="accent1"/>
          </a:effectRef>
          <a:fontRef idx="minor">
            <a:schemeClr val="lt1"/>
          </a:fontRef>
        </p:style>
        <p:txBody>
          <a:bodyPr anchor="ctr">
            <a:normAutofit/>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a:t> </a:t>
            </a:r>
            <a:r>
              <a:rPr lang="en-IN" b="1" dirty="0">
                <a:latin typeface="Times New Roman" panose="02020603050405020304" pitchFamily="18" charset="0"/>
                <a:cs typeface="Times New Roman" panose="02020603050405020304" pitchFamily="18" charset="0"/>
              </a:rPr>
              <a:t>DFD Level Diagram</a:t>
            </a:r>
            <a:endParaRPr lang="en-US" sz="21600" b="1" dirty="0">
              <a:latin typeface="Times New Roman" panose="02020603050405020304" pitchFamily="18" charset="0"/>
              <a:cs typeface="Times New Roman" pitchFamily="18" charset="0"/>
            </a:endParaRPr>
          </a:p>
        </p:txBody>
      </p:sp>
      <p:pic>
        <p:nvPicPr>
          <p:cNvPr id="12" name="Picture 11">
            <a:extLst>
              <a:ext uri="{FF2B5EF4-FFF2-40B4-BE49-F238E27FC236}">
                <a16:creationId xmlns:a16="http://schemas.microsoft.com/office/drawing/2014/main" id="{FB47B3A9-1C32-83D0-EB7C-27B33D107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719155"/>
            <a:ext cx="7620000" cy="582735"/>
          </a:xfrm>
          <a:prstGeom prst="rect">
            <a:avLst/>
          </a:prstGeom>
        </p:spPr>
      </p:pic>
      <p:pic>
        <p:nvPicPr>
          <p:cNvPr id="14" name="Picture 13">
            <a:extLst>
              <a:ext uri="{FF2B5EF4-FFF2-40B4-BE49-F238E27FC236}">
                <a16:creationId xmlns:a16="http://schemas.microsoft.com/office/drawing/2014/main" id="{725A50CC-1244-B777-5838-B2F9339E6C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2342" y="2900327"/>
            <a:ext cx="7576457" cy="1485900"/>
          </a:xfrm>
          <a:prstGeom prst="rect">
            <a:avLst/>
          </a:prstGeom>
        </p:spPr>
      </p:pic>
      <p:sp>
        <p:nvSpPr>
          <p:cNvPr id="15" name="TextBox 14">
            <a:extLst>
              <a:ext uri="{FF2B5EF4-FFF2-40B4-BE49-F238E27FC236}">
                <a16:creationId xmlns:a16="http://schemas.microsoft.com/office/drawing/2014/main" id="{40BEC113-F159-C517-2388-D12AFDDC7A50}"/>
              </a:ext>
            </a:extLst>
          </p:cNvPr>
          <p:cNvSpPr txBox="1"/>
          <p:nvPr/>
        </p:nvSpPr>
        <p:spPr>
          <a:xfrm>
            <a:off x="549275" y="1905000"/>
            <a:ext cx="1050925" cy="41549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DFD0</a:t>
            </a:r>
          </a:p>
        </p:txBody>
      </p:sp>
      <p:sp>
        <p:nvSpPr>
          <p:cNvPr id="16" name="TextBox 15">
            <a:extLst>
              <a:ext uri="{FF2B5EF4-FFF2-40B4-BE49-F238E27FC236}">
                <a16:creationId xmlns:a16="http://schemas.microsoft.com/office/drawing/2014/main" id="{D90614DC-18DD-5045-1BDD-BC26579EF3DF}"/>
              </a:ext>
            </a:extLst>
          </p:cNvPr>
          <p:cNvSpPr txBox="1"/>
          <p:nvPr/>
        </p:nvSpPr>
        <p:spPr>
          <a:xfrm>
            <a:off x="549274" y="3449851"/>
            <a:ext cx="1050925" cy="41549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DFD1</a:t>
            </a:r>
          </a:p>
        </p:txBody>
      </p:sp>
      <p:sp>
        <p:nvSpPr>
          <p:cNvPr id="17" name="TextBox 16">
            <a:extLst>
              <a:ext uri="{FF2B5EF4-FFF2-40B4-BE49-F238E27FC236}">
                <a16:creationId xmlns:a16="http://schemas.microsoft.com/office/drawing/2014/main" id="{D0C7E817-B64C-A7B2-939B-4807690C10B8}"/>
              </a:ext>
            </a:extLst>
          </p:cNvPr>
          <p:cNvSpPr txBox="1"/>
          <p:nvPr/>
        </p:nvSpPr>
        <p:spPr>
          <a:xfrm>
            <a:off x="549274" y="4994703"/>
            <a:ext cx="1050925" cy="41549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DFD2</a:t>
            </a:r>
          </a:p>
        </p:txBody>
      </p:sp>
      <p:pic>
        <p:nvPicPr>
          <p:cNvPr id="5" name="Picture 4">
            <a:extLst>
              <a:ext uri="{FF2B5EF4-FFF2-40B4-BE49-F238E27FC236}">
                <a16:creationId xmlns:a16="http://schemas.microsoft.com/office/drawing/2014/main" id="{37CAE2BE-996F-11DB-DC13-237E3E318AEC}"/>
              </a:ext>
            </a:extLst>
          </p:cNvPr>
          <p:cNvPicPr>
            <a:picLocks noChangeAspect="1"/>
          </p:cNvPicPr>
          <p:nvPr/>
        </p:nvPicPr>
        <p:blipFill>
          <a:blip r:embed="rId4"/>
          <a:stretch>
            <a:fillRect/>
          </a:stretch>
        </p:blipFill>
        <p:spPr>
          <a:xfrm>
            <a:off x="2209800" y="4984664"/>
            <a:ext cx="7238999" cy="1533525"/>
          </a:xfrm>
          <a:prstGeom prst="rect">
            <a:avLst/>
          </a:prstGeom>
        </p:spPr>
      </p:pic>
    </p:spTree>
    <p:extLst>
      <p:ext uri="{BB962C8B-B14F-4D97-AF65-F5344CB8AC3E}">
        <p14:creationId xmlns:p14="http://schemas.microsoft.com/office/powerpoint/2010/main" val="3318170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0FB885-5CF4-B9A5-E183-50F70F94F9CD}"/>
              </a:ext>
            </a:extLst>
          </p:cNvPr>
          <p:cNvSpPr>
            <a:spLocks noGrp="1"/>
          </p:cNvSpPr>
          <p:nvPr>
            <p:ph type="sldNum" sz="quarter" idx="12"/>
          </p:nvPr>
        </p:nvSpPr>
        <p:spPr/>
        <p:txBody>
          <a:bodyPr/>
          <a:lstStyle/>
          <a:p>
            <a:fld id="{B6F15528-21DE-4FAA-801E-634DDDAF4B2B}" type="slidenum">
              <a:rPr lang="en-US" smtClean="0"/>
              <a:pPr/>
              <a:t>17</a:t>
            </a:fld>
            <a:endParaRPr lang="en-US" dirty="0"/>
          </a:p>
        </p:txBody>
      </p:sp>
      <p:sp>
        <p:nvSpPr>
          <p:cNvPr id="4" name="Title 1">
            <a:extLst>
              <a:ext uri="{FF2B5EF4-FFF2-40B4-BE49-F238E27FC236}">
                <a16:creationId xmlns:a16="http://schemas.microsoft.com/office/drawing/2014/main" id="{93E2A49E-6B61-530A-983D-88C5E51FDDBC}"/>
              </a:ext>
            </a:extLst>
          </p:cNvPr>
          <p:cNvSpPr txBox="1">
            <a:spLocks/>
          </p:cNvSpPr>
          <p:nvPr/>
        </p:nvSpPr>
        <p:spPr>
          <a:xfrm>
            <a:off x="549275" y="99906"/>
            <a:ext cx="9874250" cy="1219200"/>
          </a:xfrm>
          <a:prstGeom prst="rect">
            <a:avLst/>
          </a:prstGeom>
        </p:spPr>
        <p:style>
          <a:lnRef idx="3">
            <a:schemeClr val="lt1"/>
          </a:lnRef>
          <a:fillRef idx="1">
            <a:schemeClr val="accent1"/>
          </a:fillRef>
          <a:effectRef idx="1">
            <a:schemeClr val="accent1"/>
          </a:effectRef>
          <a:fontRef idx="minor">
            <a:schemeClr val="lt1"/>
          </a:fontRef>
        </p:style>
        <p:txBody>
          <a:bodyPr>
            <a:normAutofit fontScale="25000" lnSpcReduction="20000"/>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a:t> </a:t>
            </a:r>
            <a:br>
              <a:rPr lang="en-US" dirty="0"/>
            </a:br>
            <a:endParaRPr lang="en-US" dirty="0"/>
          </a:p>
          <a:p>
            <a:r>
              <a:rPr lang="en-US" sz="7300" b="1" dirty="0"/>
              <a:t> </a:t>
            </a:r>
            <a:r>
              <a:rPr lang="en-IN" sz="21600" b="1" dirty="0">
                <a:latin typeface="Times New Roman" pitchFamily="18" charset="0"/>
                <a:ea typeface="Calibri" panose="020F0502020204030204" pitchFamily="34" charset="0"/>
                <a:cs typeface="Times New Roman" pitchFamily="18" charset="0"/>
              </a:rPr>
              <a:t>UML Diagrams</a:t>
            </a:r>
            <a:endParaRPr lang="en-US" sz="21600" b="1"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70EE4989-DBFA-50E7-67A2-1047ED143F97}"/>
              </a:ext>
            </a:extLst>
          </p:cNvPr>
          <p:cNvSpPr txBox="1"/>
          <p:nvPr/>
        </p:nvSpPr>
        <p:spPr>
          <a:xfrm>
            <a:off x="1066800" y="1828800"/>
            <a:ext cx="2819400" cy="41549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Activity Diagram :</a:t>
            </a:r>
            <a:endParaRPr lang="en-IN" dirty="0"/>
          </a:p>
        </p:txBody>
      </p:sp>
      <p:pic>
        <p:nvPicPr>
          <p:cNvPr id="6" name="Picture 5">
            <a:extLst>
              <a:ext uri="{FF2B5EF4-FFF2-40B4-BE49-F238E27FC236}">
                <a16:creationId xmlns:a16="http://schemas.microsoft.com/office/drawing/2014/main" id="{7AD8B0AE-34F3-D9B1-FECC-6B1DD6E4479D}"/>
              </a:ext>
            </a:extLst>
          </p:cNvPr>
          <p:cNvPicPr>
            <a:picLocks noChangeAspect="1"/>
          </p:cNvPicPr>
          <p:nvPr/>
        </p:nvPicPr>
        <p:blipFill>
          <a:blip r:embed="rId2"/>
          <a:stretch>
            <a:fillRect/>
          </a:stretch>
        </p:blipFill>
        <p:spPr>
          <a:xfrm>
            <a:off x="4419600" y="1541790"/>
            <a:ext cx="4191000" cy="5673504"/>
          </a:xfrm>
          <a:prstGeom prst="rect">
            <a:avLst/>
          </a:prstGeom>
        </p:spPr>
      </p:pic>
    </p:spTree>
    <p:extLst>
      <p:ext uri="{BB962C8B-B14F-4D97-AF65-F5344CB8AC3E}">
        <p14:creationId xmlns:p14="http://schemas.microsoft.com/office/powerpoint/2010/main" val="1166550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5CE9E4F-6F27-7FE7-74CF-EDFB45DA8EEB}"/>
              </a:ext>
            </a:extLst>
          </p:cNvPr>
          <p:cNvSpPr>
            <a:spLocks noGrp="1"/>
          </p:cNvSpPr>
          <p:nvPr>
            <p:ph type="ftr" sz="quarter" idx="11"/>
          </p:nvPr>
        </p:nvSpPr>
        <p:spPr/>
        <p:txBody>
          <a:bodyPr/>
          <a:lstStyle/>
          <a:p>
            <a:r>
              <a:rPr lang="en-US"/>
              <a:t>Project Title Goes here</a:t>
            </a:r>
            <a:endParaRPr lang="en-US" dirty="0"/>
          </a:p>
        </p:txBody>
      </p:sp>
      <p:sp>
        <p:nvSpPr>
          <p:cNvPr id="3" name="Slide Number Placeholder 2">
            <a:extLst>
              <a:ext uri="{FF2B5EF4-FFF2-40B4-BE49-F238E27FC236}">
                <a16:creationId xmlns:a16="http://schemas.microsoft.com/office/drawing/2014/main" id="{EC0FB885-5CF4-B9A5-E183-50F70F94F9CD}"/>
              </a:ext>
            </a:extLst>
          </p:cNvPr>
          <p:cNvSpPr>
            <a:spLocks noGrp="1"/>
          </p:cNvSpPr>
          <p:nvPr>
            <p:ph type="sldNum" sz="quarter" idx="12"/>
          </p:nvPr>
        </p:nvSpPr>
        <p:spPr/>
        <p:txBody>
          <a:bodyPr/>
          <a:lstStyle/>
          <a:p>
            <a:fld id="{B6F15528-21DE-4FAA-801E-634DDDAF4B2B}" type="slidenum">
              <a:rPr lang="en-US" smtClean="0"/>
              <a:pPr/>
              <a:t>18</a:t>
            </a:fld>
            <a:endParaRPr lang="en-US" dirty="0"/>
          </a:p>
        </p:txBody>
      </p:sp>
      <p:sp>
        <p:nvSpPr>
          <p:cNvPr id="4" name="Title 1">
            <a:extLst>
              <a:ext uri="{FF2B5EF4-FFF2-40B4-BE49-F238E27FC236}">
                <a16:creationId xmlns:a16="http://schemas.microsoft.com/office/drawing/2014/main" id="{93E2A49E-6B61-530A-983D-88C5E51FDDBC}"/>
              </a:ext>
            </a:extLst>
          </p:cNvPr>
          <p:cNvSpPr txBox="1">
            <a:spLocks/>
          </p:cNvSpPr>
          <p:nvPr/>
        </p:nvSpPr>
        <p:spPr>
          <a:xfrm>
            <a:off x="549275" y="99906"/>
            <a:ext cx="9874250" cy="1219200"/>
          </a:xfrm>
          <a:prstGeom prst="rect">
            <a:avLst/>
          </a:prstGeom>
        </p:spPr>
        <p:style>
          <a:lnRef idx="3">
            <a:schemeClr val="lt1"/>
          </a:lnRef>
          <a:fillRef idx="1">
            <a:schemeClr val="accent1"/>
          </a:fillRef>
          <a:effectRef idx="1">
            <a:schemeClr val="accent1"/>
          </a:effectRef>
          <a:fontRef idx="minor">
            <a:schemeClr val="lt1"/>
          </a:fontRef>
        </p:style>
        <p:txBody>
          <a:bodyPr>
            <a:normAutofit fontScale="25000" lnSpcReduction="20000"/>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a:t> </a:t>
            </a:r>
            <a:br>
              <a:rPr lang="en-US" dirty="0"/>
            </a:br>
            <a:endParaRPr lang="en-US" dirty="0"/>
          </a:p>
          <a:p>
            <a:r>
              <a:rPr lang="en-US" sz="7300" b="1" dirty="0"/>
              <a:t> </a:t>
            </a:r>
            <a:r>
              <a:rPr lang="en-IN" sz="21600" b="1" dirty="0">
                <a:latin typeface="Times New Roman" pitchFamily="18" charset="0"/>
                <a:ea typeface="Calibri" panose="020F0502020204030204" pitchFamily="34" charset="0"/>
                <a:cs typeface="Times New Roman" pitchFamily="18" charset="0"/>
              </a:rPr>
              <a:t>UML Diagrams</a:t>
            </a:r>
            <a:endParaRPr lang="en-US" sz="21600" b="1" dirty="0">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id="{00812C7D-E6A6-155E-9FC6-D0647307ED7D}"/>
              </a:ext>
            </a:extLst>
          </p:cNvPr>
          <p:cNvSpPr txBox="1"/>
          <p:nvPr/>
        </p:nvSpPr>
        <p:spPr>
          <a:xfrm>
            <a:off x="838200" y="1711430"/>
            <a:ext cx="2514600" cy="41549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Class Diagram :</a:t>
            </a:r>
            <a:endParaRPr lang="en-IN" dirty="0"/>
          </a:p>
        </p:txBody>
      </p:sp>
      <p:pic>
        <p:nvPicPr>
          <p:cNvPr id="7" name="Picture 6">
            <a:extLst>
              <a:ext uri="{FF2B5EF4-FFF2-40B4-BE49-F238E27FC236}">
                <a16:creationId xmlns:a16="http://schemas.microsoft.com/office/drawing/2014/main" id="{7E6B6474-CCB8-7300-58B1-AC21A86DA245}"/>
              </a:ext>
            </a:extLst>
          </p:cNvPr>
          <p:cNvPicPr>
            <a:picLocks noChangeAspect="1"/>
          </p:cNvPicPr>
          <p:nvPr/>
        </p:nvPicPr>
        <p:blipFill>
          <a:blip r:embed="rId2"/>
          <a:stretch>
            <a:fillRect/>
          </a:stretch>
        </p:blipFill>
        <p:spPr>
          <a:xfrm>
            <a:off x="1066800" y="2527413"/>
            <a:ext cx="9113215" cy="3492387"/>
          </a:xfrm>
          <a:prstGeom prst="rect">
            <a:avLst/>
          </a:prstGeom>
        </p:spPr>
      </p:pic>
    </p:spTree>
    <p:extLst>
      <p:ext uri="{BB962C8B-B14F-4D97-AF65-F5344CB8AC3E}">
        <p14:creationId xmlns:p14="http://schemas.microsoft.com/office/powerpoint/2010/main" val="2063081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0FB885-5CF4-B9A5-E183-50F70F94F9CD}"/>
              </a:ext>
            </a:extLst>
          </p:cNvPr>
          <p:cNvSpPr>
            <a:spLocks noGrp="1"/>
          </p:cNvSpPr>
          <p:nvPr>
            <p:ph type="sldNum" sz="quarter" idx="12"/>
          </p:nvPr>
        </p:nvSpPr>
        <p:spPr/>
        <p:txBody>
          <a:bodyPr/>
          <a:lstStyle/>
          <a:p>
            <a:fld id="{B6F15528-21DE-4FAA-801E-634DDDAF4B2B}" type="slidenum">
              <a:rPr lang="en-US" smtClean="0"/>
              <a:pPr/>
              <a:t>19</a:t>
            </a:fld>
            <a:endParaRPr lang="en-US" dirty="0"/>
          </a:p>
        </p:txBody>
      </p:sp>
      <p:sp>
        <p:nvSpPr>
          <p:cNvPr id="4" name="Title 1">
            <a:extLst>
              <a:ext uri="{FF2B5EF4-FFF2-40B4-BE49-F238E27FC236}">
                <a16:creationId xmlns:a16="http://schemas.microsoft.com/office/drawing/2014/main" id="{93E2A49E-6B61-530A-983D-88C5E51FDDBC}"/>
              </a:ext>
            </a:extLst>
          </p:cNvPr>
          <p:cNvSpPr txBox="1">
            <a:spLocks/>
          </p:cNvSpPr>
          <p:nvPr/>
        </p:nvSpPr>
        <p:spPr>
          <a:xfrm>
            <a:off x="549275" y="99906"/>
            <a:ext cx="9874250" cy="1219200"/>
          </a:xfrm>
          <a:prstGeom prst="rect">
            <a:avLst/>
          </a:prstGeom>
        </p:spPr>
        <p:style>
          <a:lnRef idx="3">
            <a:schemeClr val="lt1"/>
          </a:lnRef>
          <a:fillRef idx="1">
            <a:schemeClr val="accent1"/>
          </a:fillRef>
          <a:effectRef idx="1">
            <a:schemeClr val="accent1"/>
          </a:effectRef>
          <a:fontRef idx="minor">
            <a:schemeClr val="lt1"/>
          </a:fontRef>
        </p:style>
        <p:txBody>
          <a:bodyPr>
            <a:normAutofit fontScale="25000" lnSpcReduction="20000"/>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a:t> </a:t>
            </a:r>
            <a:br>
              <a:rPr lang="en-US" dirty="0"/>
            </a:br>
            <a:endParaRPr lang="en-US" dirty="0"/>
          </a:p>
          <a:p>
            <a:r>
              <a:rPr lang="en-US" sz="7300" b="1" dirty="0"/>
              <a:t> </a:t>
            </a:r>
            <a:r>
              <a:rPr lang="en-IN" sz="21600" b="1" dirty="0">
                <a:latin typeface="Times New Roman" pitchFamily="18" charset="0"/>
                <a:ea typeface="Calibri" panose="020F0502020204030204" pitchFamily="34" charset="0"/>
                <a:cs typeface="Times New Roman" pitchFamily="18" charset="0"/>
              </a:rPr>
              <a:t>UML Diagrams</a:t>
            </a:r>
            <a:endParaRPr lang="en-US" sz="21600" b="1" dirty="0">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id="{880BFD85-969D-21A6-FEA4-91CDDFA2FACE}"/>
              </a:ext>
            </a:extLst>
          </p:cNvPr>
          <p:cNvSpPr txBox="1"/>
          <p:nvPr/>
        </p:nvSpPr>
        <p:spPr>
          <a:xfrm>
            <a:off x="762000" y="1676400"/>
            <a:ext cx="3048000" cy="41549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Sequence Diagram :</a:t>
            </a:r>
            <a:endParaRPr lang="en-IN" dirty="0"/>
          </a:p>
        </p:txBody>
      </p:sp>
      <p:pic>
        <p:nvPicPr>
          <p:cNvPr id="6" name="Picture 5">
            <a:extLst>
              <a:ext uri="{FF2B5EF4-FFF2-40B4-BE49-F238E27FC236}">
                <a16:creationId xmlns:a16="http://schemas.microsoft.com/office/drawing/2014/main" id="{9BB51E41-C51A-351C-FE36-D8B54538CC5C}"/>
              </a:ext>
            </a:extLst>
          </p:cNvPr>
          <p:cNvPicPr>
            <a:picLocks noChangeAspect="1"/>
          </p:cNvPicPr>
          <p:nvPr/>
        </p:nvPicPr>
        <p:blipFill>
          <a:blip r:embed="rId2"/>
          <a:stretch>
            <a:fillRect/>
          </a:stretch>
        </p:blipFill>
        <p:spPr>
          <a:xfrm>
            <a:off x="4343400" y="1424095"/>
            <a:ext cx="4724400" cy="5791199"/>
          </a:xfrm>
          <a:prstGeom prst="rect">
            <a:avLst/>
          </a:prstGeom>
        </p:spPr>
      </p:pic>
    </p:spTree>
    <p:extLst>
      <p:ext uri="{BB962C8B-B14F-4D97-AF65-F5344CB8AC3E}">
        <p14:creationId xmlns:p14="http://schemas.microsoft.com/office/powerpoint/2010/main" val="2335927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0FB885-5CF4-B9A5-E183-50F70F94F9CD}"/>
              </a:ext>
            </a:extLst>
          </p:cNvPr>
          <p:cNvSpPr>
            <a:spLocks noGrp="1"/>
          </p:cNvSpPr>
          <p:nvPr>
            <p:ph type="sldNum" sz="quarter" idx="12"/>
          </p:nvPr>
        </p:nvSpPr>
        <p:spPr/>
        <p:txBody>
          <a:bodyPr/>
          <a:lstStyle/>
          <a:p>
            <a:fld id="{B6F15528-21DE-4FAA-801E-634DDDAF4B2B}" type="slidenum">
              <a:rPr lang="en-US" smtClean="0"/>
              <a:pPr/>
              <a:t>20</a:t>
            </a:fld>
            <a:endParaRPr lang="en-US" dirty="0"/>
          </a:p>
        </p:txBody>
      </p:sp>
      <p:sp>
        <p:nvSpPr>
          <p:cNvPr id="4" name="Title 1">
            <a:extLst>
              <a:ext uri="{FF2B5EF4-FFF2-40B4-BE49-F238E27FC236}">
                <a16:creationId xmlns:a16="http://schemas.microsoft.com/office/drawing/2014/main" id="{93E2A49E-6B61-530A-983D-88C5E51FDDBC}"/>
              </a:ext>
            </a:extLst>
          </p:cNvPr>
          <p:cNvSpPr txBox="1">
            <a:spLocks/>
          </p:cNvSpPr>
          <p:nvPr/>
        </p:nvSpPr>
        <p:spPr>
          <a:xfrm>
            <a:off x="549275" y="99906"/>
            <a:ext cx="9874250" cy="1219200"/>
          </a:xfrm>
          <a:prstGeom prst="rect">
            <a:avLst/>
          </a:prstGeom>
        </p:spPr>
        <p:style>
          <a:lnRef idx="3">
            <a:schemeClr val="lt1"/>
          </a:lnRef>
          <a:fillRef idx="1">
            <a:schemeClr val="accent1"/>
          </a:fillRef>
          <a:effectRef idx="1">
            <a:schemeClr val="accent1"/>
          </a:effectRef>
          <a:fontRef idx="minor">
            <a:schemeClr val="lt1"/>
          </a:fontRef>
        </p:style>
        <p:txBody>
          <a:bodyPr>
            <a:normAutofit fontScale="25000" lnSpcReduction="20000"/>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dirty="0"/>
              <a:t> </a:t>
            </a:r>
            <a:br>
              <a:rPr lang="en-US" dirty="0"/>
            </a:br>
            <a:endParaRPr lang="en-US" dirty="0"/>
          </a:p>
          <a:p>
            <a:r>
              <a:rPr lang="en-US" sz="7300" b="1" dirty="0"/>
              <a:t> </a:t>
            </a:r>
            <a:r>
              <a:rPr lang="en-IN" sz="21600" b="1" dirty="0">
                <a:latin typeface="Times New Roman" pitchFamily="18" charset="0"/>
                <a:ea typeface="Calibri" panose="020F0502020204030204" pitchFamily="34" charset="0"/>
                <a:cs typeface="Times New Roman" pitchFamily="18" charset="0"/>
              </a:rPr>
              <a:t>UML Diagrams</a:t>
            </a:r>
            <a:endParaRPr lang="en-US" sz="21600" b="1" dirty="0">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id="{AEE5D2E1-A831-4949-5125-3259E2D22D76}"/>
              </a:ext>
            </a:extLst>
          </p:cNvPr>
          <p:cNvSpPr txBox="1"/>
          <p:nvPr/>
        </p:nvSpPr>
        <p:spPr>
          <a:xfrm>
            <a:off x="1143000" y="1676400"/>
            <a:ext cx="2590800" cy="415498"/>
          </a:xfrm>
          <a:prstGeom prst="rect">
            <a:avLst/>
          </a:prstGeom>
          <a:noFill/>
        </p:spPr>
        <p:txBody>
          <a:bodyPr wrap="square">
            <a:spAutoFit/>
          </a:bodyPr>
          <a:lstStyle/>
          <a:p>
            <a:r>
              <a:rPr lang="en-IN" b="1" dirty="0" err="1">
                <a:latin typeface="Times New Roman" panose="02020603050405020304" pitchFamily="18" charset="0"/>
                <a:cs typeface="Times New Roman" panose="02020603050405020304" pitchFamily="18" charset="0"/>
              </a:rPr>
              <a:t>Usecase</a:t>
            </a:r>
            <a:r>
              <a:rPr lang="en-IN" b="1" dirty="0">
                <a:latin typeface="Times New Roman" panose="02020603050405020304" pitchFamily="18" charset="0"/>
                <a:cs typeface="Times New Roman" panose="02020603050405020304" pitchFamily="18" charset="0"/>
              </a:rPr>
              <a:t> Diagram :</a:t>
            </a:r>
            <a:endParaRPr lang="en-IN" dirty="0"/>
          </a:p>
        </p:txBody>
      </p:sp>
      <p:pic>
        <p:nvPicPr>
          <p:cNvPr id="6" name="Picture 5">
            <a:extLst>
              <a:ext uri="{FF2B5EF4-FFF2-40B4-BE49-F238E27FC236}">
                <a16:creationId xmlns:a16="http://schemas.microsoft.com/office/drawing/2014/main" id="{8968517F-7577-4E46-75FD-2552D7FF771D}"/>
              </a:ext>
            </a:extLst>
          </p:cNvPr>
          <p:cNvPicPr>
            <a:picLocks noChangeAspect="1"/>
          </p:cNvPicPr>
          <p:nvPr/>
        </p:nvPicPr>
        <p:blipFill>
          <a:blip r:embed="rId2"/>
          <a:stretch>
            <a:fillRect/>
          </a:stretch>
        </p:blipFill>
        <p:spPr>
          <a:xfrm>
            <a:off x="3481219" y="1709057"/>
            <a:ext cx="6677025" cy="4962525"/>
          </a:xfrm>
          <a:prstGeom prst="rect">
            <a:avLst/>
          </a:prstGeom>
        </p:spPr>
      </p:pic>
    </p:spTree>
    <p:extLst>
      <p:ext uri="{BB962C8B-B14F-4D97-AF65-F5344CB8AC3E}">
        <p14:creationId xmlns:p14="http://schemas.microsoft.com/office/powerpoint/2010/main" val="1012587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155D534-9ED0-8BC3-1D93-C534071CEB7E}"/>
              </a:ext>
            </a:extLst>
          </p:cNvPr>
          <p:cNvSpPr>
            <a:spLocks noGrp="1"/>
          </p:cNvSpPr>
          <p:nvPr>
            <p:ph type="ftr" sz="quarter" idx="11"/>
          </p:nvPr>
        </p:nvSpPr>
        <p:spPr>
          <a:xfrm>
            <a:off x="3749040" y="6780108"/>
            <a:ext cx="19872960" cy="14174892"/>
          </a:xfrm>
        </p:spPr>
        <p:txBody>
          <a:bodyPr/>
          <a:lstStyle/>
          <a:p>
            <a:r>
              <a:rPr lang="en-US" dirty="0"/>
              <a:t>Project Title Goes here</a:t>
            </a:r>
          </a:p>
        </p:txBody>
      </p:sp>
      <p:sp>
        <p:nvSpPr>
          <p:cNvPr id="3" name="Slide Number Placeholder 2">
            <a:extLst>
              <a:ext uri="{FF2B5EF4-FFF2-40B4-BE49-F238E27FC236}">
                <a16:creationId xmlns:a16="http://schemas.microsoft.com/office/drawing/2014/main" id="{275CD290-C4E8-CDC9-4787-F29FA2EFBA53}"/>
              </a:ext>
            </a:extLst>
          </p:cNvPr>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Title 1">
            <a:extLst>
              <a:ext uri="{FF2B5EF4-FFF2-40B4-BE49-F238E27FC236}">
                <a16:creationId xmlns:a16="http://schemas.microsoft.com/office/drawing/2014/main" id="{900EC828-4738-C876-6877-714269778371}"/>
              </a:ext>
            </a:extLst>
          </p:cNvPr>
          <p:cNvSpPr txBox="1">
            <a:spLocks/>
          </p:cNvSpPr>
          <p:nvPr/>
        </p:nvSpPr>
        <p:spPr>
          <a:xfrm>
            <a:off x="685800" y="145625"/>
            <a:ext cx="9874250" cy="1219200"/>
          </a:xfrm>
          <a:prstGeom prst="rect">
            <a:avLst/>
          </a:prstGeom>
        </p:spPr>
        <p:style>
          <a:lnRef idx="3">
            <a:schemeClr val="lt1"/>
          </a:lnRef>
          <a:fillRef idx="1">
            <a:schemeClr val="accent1"/>
          </a:fillRef>
          <a:effectRef idx="1">
            <a:schemeClr val="accent1"/>
          </a:effectRef>
          <a:fontRef idx="minor">
            <a:schemeClr val="lt1"/>
          </a:fontRef>
        </p:style>
        <p:txBody>
          <a:bodyPr>
            <a:normAutofit fontScale="25000" lnSpcReduction="20000"/>
          </a:bodyPr>
          <a:lstStyle>
            <a:lvl1pPr algn="ctr" defTabSz="1044924" rtl="0" eaLnBrk="1" latinLnBrk="0" hangingPunct="1">
              <a:spcBef>
                <a:spcPct val="0"/>
              </a:spcBef>
              <a:buNone/>
              <a:defRPr sz="5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nSpc>
                <a:spcPct val="120000"/>
              </a:lnSpc>
            </a:pPr>
            <a:r>
              <a:rPr lang="en-US" dirty="0"/>
              <a:t> </a:t>
            </a:r>
            <a:br>
              <a:rPr lang="en-US" dirty="0"/>
            </a:br>
            <a:r>
              <a:rPr lang="en-US" sz="19200" b="1" dirty="0">
                <a:latin typeface="Times New Roman" pitchFamily="18" charset="0"/>
                <a:cs typeface="Times New Roman" pitchFamily="18" charset="0"/>
              </a:rPr>
              <a:t>Survey Paper</a:t>
            </a:r>
          </a:p>
          <a:p>
            <a:pPr>
              <a:lnSpc>
                <a:spcPct val="120000"/>
              </a:lnSpc>
            </a:pPr>
            <a:br>
              <a:rPr lang="en-IN" sz="9600" b="1" dirty="0">
                <a:latin typeface="Times New Roman" pitchFamily="18" charset="0"/>
                <a:ea typeface="Calibri" panose="020F0502020204030204" pitchFamily="34" charset="0"/>
                <a:cs typeface="Times New Roman" pitchFamily="18" charset="0"/>
              </a:rPr>
            </a:br>
            <a:endParaRPr lang="en-US" sz="7300" b="1" dirty="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196CDA14-3E1C-B8F4-BD31-DEC33B5A6014}"/>
              </a:ext>
            </a:extLst>
          </p:cNvPr>
          <p:cNvSpPr txBox="1"/>
          <p:nvPr/>
        </p:nvSpPr>
        <p:spPr>
          <a:xfrm>
            <a:off x="649112" y="1453962"/>
            <a:ext cx="9874250" cy="5218736"/>
          </a:xfrm>
          <a:prstGeom prst="rect">
            <a:avLst/>
          </a:prstGeom>
          <a:noFill/>
        </p:spPr>
        <p:txBody>
          <a:bodyPr wrap="square">
            <a:spAutoFit/>
          </a:bodyPr>
          <a:lstStyle/>
          <a:p>
            <a:pPr marL="342900" lvl="0" indent="-342900" algn="just">
              <a:lnSpc>
                <a:spcPct val="150000"/>
              </a:lnSpc>
              <a:buFont typeface="Symbol" panose="05050102010706020507" pitchFamily="18" charset="2"/>
              <a:buChar char=""/>
              <a:tabLst>
                <a:tab pos="9017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Zainab Agha, Neeraj </a:t>
            </a: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Chatlani</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Afsaneh</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Razi, and Pamela Wisniewski. 2020. Towards conducting responsible research with teens and parents regarding online risks. In Extended Abstracts of the 2020 CHI Conference on Human Factors in Computing Systems. 1–8. </a:t>
            </a:r>
          </a:p>
          <a:p>
            <a:pPr marL="342900" lvl="0" indent="-342900" algn="just">
              <a:lnSpc>
                <a:spcPct val="150000"/>
              </a:lnSpc>
              <a:buFont typeface="Symbol" panose="05050102010706020507" pitchFamily="18" charset="2"/>
              <a:buChar char=""/>
              <a:tabLst>
                <a:tab pos="90170" algn="l"/>
              </a:tabLst>
            </a:pP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Shiza</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Ali, </a:t>
            </a: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Afsaneh</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Razi, Seunghyun Kim, </a:t>
            </a: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Ashwaq</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Alsoubai</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Joshua Gracie, Munmun De Choudhury, Pamela J Wisniewski, and Gianluca </a:t>
            </a:r>
            <a:r>
              <a:rPr lang="en-US" sz="1600" b="0" kern="0" dirty="0" err="1">
                <a:effectLst/>
                <a:latin typeface="Times New Roman" panose="02020603050405020304" pitchFamily="18" charset="0"/>
                <a:ea typeface="Times New Roman" panose="02020603050405020304" pitchFamily="18" charset="0"/>
                <a:cs typeface="Times New Roman" panose="02020603050405020304" pitchFamily="18" charset="0"/>
              </a:rPr>
              <a:t>Stringhini</a:t>
            </a: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 2022. Understanding the Digital Lives of Youth: Analyzing Media Shared within Safe Versus Unsafe Private Conversations on Instagram. (2022), 1–14.</a:t>
            </a:r>
          </a:p>
          <a:p>
            <a:pPr marL="342900" lvl="0" indent="-342900" algn="just">
              <a:lnSpc>
                <a:spcPct val="150000"/>
              </a:lnSpc>
              <a:buFont typeface="Symbol" panose="05050102010706020507" pitchFamily="18" charset="2"/>
              <a:buChar char=""/>
              <a:tabLst>
                <a:tab pos="90170" algn="l"/>
              </a:tabLst>
            </a:pPr>
            <a:r>
              <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rPr>
              <a:t>Detect fake profiles on social media network https://telanganatoday.com/detect-fake-profiles-on-social-medianetworks </a:t>
            </a:r>
          </a:p>
          <a:p>
            <a:pPr marL="342900" lvl="0" indent="-342900" algn="just">
              <a:lnSpc>
                <a:spcPct val="150000"/>
              </a:lnSpc>
              <a:buFont typeface="Symbol" panose="05050102010706020507" pitchFamily="18" charset="2"/>
              <a:buChar char=""/>
              <a:tabLst>
                <a:tab pos="90170" algn="l"/>
              </a:tabLst>
            </a:pPr>
            <a:r>
              <a:rPr lang="en-IN" sz="1600" dirty="0" err="1">
                <a:latin typeface="Times New Roman" panose="02020603050405020304" pitchFamily="18" charset="0"/>
                <a:cs typeface="Times New Roman" panose="02020603050405020304" pitchFamily="18" charset="0"/>
              </a:rPr>
              <a:t>Kietzmann</a:t>
            </a:r>
            <a:r>
              <a:rPr lang="en-IN" sz="1600" dirty="0">
                <a:latin typeface="Times New Roman" panose="02020603050405020304" pitchFamily="18" charset="0"/>
                <a:cs typeface="Times New Roman" panose="02020603050405020304" pitchFamily="18" charset="0"/>
              </a:rPr>
              <a:t>, J.H., </a:t>
            </a:r>
            <a:r>
              <a:rPr lang="en-IN" sz="1600" dirty="0" err="1">
                <a:latin typeface="Times New Roman" panose="02020603050405020304" pitchFamily="18" charset="0"/>
                <a:cs typeface="Times New Roman" panose="02020603050405020304" pitchFamily="18" charset="0"/>
              </a:rPr>
              <a:t>Hermkens</a:t>
            </a:r>
            <a:r>
              <a:rPr lang="en-IN" sz="1600" dirty="0">
                <a:latin typeface="Times New Roman" panose="02020603050405020304" pitchFamily="18" charset="0"/>
                <a:cs typeface="Times New Roman" panose="02020603050405020304" pitchFamily="18" charset="0"/>
              </a:rPr>
              <a:t>, K., McCarthy, I.P., </a:t>
            </a:r>
            <a:r>
              <a:rPr lang="en-IN" sz="1600" dirty="0" err="1">
                <a:latin typeface="Times New Roman" panose="02020603050405020304" pitchFamily="18" charset="0"/>
                <a:cs typeface="Times New Roman" panose="02020603050405020304" pitchFamily="18" charset="0"/>
              </a:rPr>
              <a:t>Silvestre,B.S</a:t>
            </a:r>
            <a:r>
              <a:rPr lang="en-IN" sz="1600" dirty="0">
                <a:latin typeface="Times New Roman" panose="02020603050405020304" pitchFamily="18" charset="0"/>
                <a:cs typeface="Times New Roman" panose="02020603050405020304" pitchFamily="18" charset="0"/>
              </a:rPr>
              <a:t>., 2011. Social media? Get serious! Understanding the functional building blocks of social media. </a:t>
            </a:r>
            <a:r>
              <a:rPr lang="en-IN" sz="1600" dirty="0" err="1">
                <a:latin typeface="Times New Roman" panose="02020603050405020304" pitchFamily="18" charset="0"/>
                <a:cs typeface="Times New Roman" panose="02020603050405020304" pitchFamily="18" charset="0"/>
              </a:rPr>
              <a:t>Bus.Horiz</a:t>
            </a:r>
            <a:r>
              <a:rPr lang="en-IN" sz="1600" dirty="0">
                <a:latin typeface="Times New Roman" panose="02020603050405020304" pitchFamily="18" charset="0"/>
                <a:cs typeface="Times New Roman" panose="02020603050405020304" pitchFamily="18" charset="0"/>
              </a:rPr>
              <a:t>., SPECIAL ISSUE: SOCIAL MEDIA 54, 241251. doi:10.1016/j.bushor.2011.01.005.</a:t>
            </a:r>
            <a:endParaRPr lang="en-US" sz="1600" kern="0" dirty="0">
              <a:latin typeface="Times New Roman" panose="02020603050405020304" pitchFamily="18" charset="0"/>
              <a:cs typeface="Times New Roman" panose="02020603050405020304" pitchFamily="18" charset="0"/>
            </a:endParaRPr>
          </a:p>
          <a:p>
            <a:pPr marL="342900" lvl="0" indent="-342900" algn="just">
              <a:lnSpc>
                <a:spcPct val="150000"/>
              </a:lnSpc>
              <a:buFont typeface="Symbol" panose="05050102010706020507" pitchFamily="18" charset="2"/>
              <a:buChar char=""/>
              <a:tabLst>
                <a:tab pos="90170" algn="l"/>
              </a:tabLst>
            </a:pPr>
            <a:r>
              <a:rPr lang="en-IN" sz="1600" dirty="0">
                <a:latin typeface="Times New Roman" panose="02020603050405020304" pitchFamily="18" charset="0"/>
                <a:cs typeface="Times New Roman" panose="02020603050405020304" pitchFamily="18" charset="0"/>
              </a:rPr>
              <a:t>Aleksei Romanov, Alexander Semenov, Oleksiy </a:t>
            </a:r>
            <a:r>
              <a:rPr lang="en-IN" sz="1600" dirty="0" err="1">
                <a:latin typeface="Times New Roman" panose="02020603050405020304" pitchFamily="18" charset="0"/>
                <a:cs typeface="Times New Roman" panose="02020603050405020304" pitchFamily="18" charset="0"/>
              </a:rPr>
              <a:t>Mazhelis</a:t>
            </a:r>
            <a:r>
              <a:rPr lang="en-IN" sz="1600" dirty="0">
                <a:latin typeface="Times New Roman" panose="02020603050405020304" pitchFamily="18" charset="0"/>
                <a:cs typeface="Times New Roman" panose="02020603050405020304" pitchFamily="18" charset="0"/>
              </a:rPr>
              <a:t> and </a:t>
            </a:r>
            <a:r>
              <a:rPr lang="en-IN" sz="1600" dirty="0" err="1">
                <a:latin typeface="Times New Roman" panose="02020603050405020304" pitchFamily="18" charset="0"/>
                <a:cs typeface="Times New Roman" panose="02020603050405020304" pitchFamily="18" charset="0"/>
              </a:rPr>
              <a:t>Jari</a:t>
            </a:r>
            <a:r>
              <a:rPr lang="en-IN" sz="1600" dirty="0">
                <a:latin typeface="Times New Roman" panose="02020603050405020304" pitchFamily="18" charset="0"/>
                <a:cs typeface="Times New Roman" panose="02020603050405020304" pitchFamily="18" charset="0"/>
              </a:rPr>
              <a:t> Veijalainen.2017. "Detection of Fake Profiles in Social Media”. In 13th International Conference on Web Information Systems and Technologies. International Journal of Computer Science &amp; Information Technology (IJCSIT) Vol 11, No 5, October 2019 </a:t>
            </a:r>
            <a:endParaRPr lang="en-US" sz="1600" b="0" kern="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5865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C2B1F-AF2E-B2BE-8137-9E2367682081}"/>
              </a:ext>
            </a:extLst>
          </p:cNvPr>
          <p:cNvSpPr>
            <a:spLocks noGrp="1"/>
          </p:cNvSpPr>
          <p:nvPr>
            <p:ph type="title"/>
          </p:nvPr>
        </p:nvSpPr>
        <p:spPr>
          <a:xfrm>
            <a:off x="822960" y="516940"/>
            <a:ext cx="9326880" cy="6036259"/>
          </a:xfrm>
        </p:spPr>
        <p:txBody>
          <a:bodyPr>
            <a:normAutofit/>
          </a:bodyPr>
          <a:lstStyle/>
          <a:p>
            <a:pPr algn="ctr"/>
            <a:r>
              <a:rPr lang="en-US" sz="6600" dirty="0">
                <a:latin typeface="+mn-lt"/>
              </a:rPr>
              <a:t>THANK YOU</a:t>
            </a:r>
            <a:endParaRPr lang="en-IN" sz="6600" dirty="0">
              <a:latin typeface="+mn-lt"/>
            </a:endParaRPr>
          </a:p>
        </p:txBody>
      </p:sp>
      <p:sp>
        <p:nvSpPr>
          <p:cNvPr id="5" name="Slide Number Placeholder 4">
            <a:extLst>
              <a:ext uri="{FF2B5EF4-FFF2-40B4-BE49-F238E27FC236}">
                <a16:creationId xmlns:a16="http://schemas.microsoft.com/office/drawing/2014/main" id="{1463F141-C331-E2B1-65E6-AD6C40DBC918}"/>
              </a:ext>
            </a:extLst>
          </p:cNvPr>
          <p:cNvSpPr>
            <a:spLocks noGrp="1"/>
          </p:cNvSpPr>
          <p:nvPr>
            <p:ph type="sldNum" sz="quarter" idx="12"/>
          </p:nvPr>
        </p:nvSpPr>
        <p:spPr/>
        <p:txBody>
          <a:bodyPr/>
          <a:lstStyle/>
          <a:p>
            <a:fld id="{B6F15528-21DE-4FAA-801E-634DDDAF4B2B}" type="slidenum">
              <a:rPr lang="en-US" smtClean="0"/>
              <a:pPr/>
              <a:t>22</a:t>
            </a:fld>
            <a:endParaRPr lang="en-US" dirty="0"/>
          </a:p>
        </p:txBody>
      </p:sp>
    </p:spTree>
    <p:extLst>
      <p:ext uri="{BB962C8B-B14F-4D97-AF65-F5344CB8AC3E}">
        <p14:creationId xmlns:p14="http://schemas.microsoft.com/office/powerpoint/2010/main" val="869779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4933</TotalTime>
  <Words>1822</Words>
  <Application>Microsoft Office PowerPoint</Application>
  <PresentationFormat>Custom</PresentationFormat>
  <Paragraphs>268</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Rockwell</vt:lpstr>
      <vt:lpstr>Rockwell Condensed</vt:lpstr>
      <vt:lpstr>Symbol</vt:lpstr>
      <vt:lpstr>Times New Roman</vt:lpstr>
      <vt:lpstr>Wingdings</vt:lpstr>
      <vt:lpstr>Wood Type</vt:lpstr>
      <vt:lpstr>                      SINHGAD ACADEMY OF ENGINEERING</vt:lpstr>
      <vt:lpstr>  Contents</vt:lpstr>
      <vt:lpstr>   Introduction </vt:lpstr>
      <vt:lpstr>   Motivation </vt:lpstr>
      <vt:lpstr>   Problem Definition  </vt:lpstr>
      <vt:lpstr>  Literature Survey  </vt:lpstr>
      <vt:lpstr>  Literature Survey  </vt:lpstr>
      <vt:lpstr>  Literature Survey  </vt:lpstr>
      <vt:lpstr>Software &amp; Hardware Requirements</vt:lpstr>
      <vt:lpstr>Project Scope </vt:lpstr>
      <vt:lpstr>Project Timeline chart</vt:lpstr>
      <vt:lpstr>Assumptions and Dependencies</vt:lpstr>
      <vt:lpstr>Architecture of Project</vt:lpstr>
      <vt:lpstr>Mathematical Model</vt:lpstr>
      <vt:lpstr>Algorithm </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Nilesh Uke</Manager>
  <Company>PCCOE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PCCoE</dc:title>
  <dc:subject>Seminar PPT</dc:subject>
  <dc:creator>NJUke</dc:creator>
  <cp:lastModifiedBy>vighnesh jadhav</cp:lastModifiedBy>
  <cp:revision>321</cp:revision>
  <dcterms:created xsi:type="dcterms:W3CDTF">2006-08-16T00:00:00Z</dcterms:created>
  <dcterms:modified xsi:type="dcterms:W3CDTF">2023-11-20T16:47:43Z</dcterms:modified>
  <cp:version>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2023-08-09T23:19:07Z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2317f448-8e61-4c2d-9816-b6b8cbe2c21c</vt:lpwstr>
  </property>
  <property fmtid="{D5CDD505-2E9C-101B-9397-08002B2CF9AE}" pid="7" name="MSIP_Label_defa4170-0d19-0005-0004-bc88714345d2_ActionId">
    <vt:lpwstr>210f7999-b487-4b91-abe6-cc70b8a93115</vt:lpwstr>
  </property>
  <property fmtid="{D5CDD505-2E9C-101B-9397-08002B2CF9AE}" pid="8" name="MSIP_Label_defa4170-0d19-0005-0004-bc88714345d2_ContentBits">
    <vt:lpwstr>0</vt:lpwstr>
  </property>
</Properties>
</file>